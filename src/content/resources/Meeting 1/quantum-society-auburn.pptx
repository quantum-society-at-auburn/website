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yourselves in your own words, not off the slide. Say why each of you started caring about this, since that is the part nobody can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and the workshop track is the one to dwell on. The hackathon team is the hook for the competitive students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is the promise: nothing assumed in week one, a working circuit by week seven. Say out loud that members can join at any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anti-buzzword slide. The line that matters: superposition alone buys you nothing, interference is where the speedup comes from. If you only land one idea tonight, land that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real artifacts here. A circuit somebody built, the histogram it returned, and a photo of the room. Swap these every semester.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pic>
        <p:nvPicPr>
          <p:cNvPr id="3" name="Image 0" descr="preencoded.png">    </p:cNvPr>
          <p:cNvPicPr>
            <a:picLocks noChangeAspect="1"/>
          </p:cNvPicPr>
          <p:nvPr/>
        </p:nvPicPr>
        <p:blipFill>
          <a:blip r:embed="rId1">
            <a:alphaModFix amt="7000"/>
          </a:blip>
          <a:stretch>
            <a:fillRect/>
          </a:stretch>
        </p:blipFill>
        <p:spPr>
          <a:xfrm>
            <a:off x="12954000" y="-762000"/>
            <a:ext cx="7239000" cy="8087320"/>
          </a:xfrm>
          <a:prstGeom prst="rect">
            <a:avLst/>
          </a:prstGeom>
        </p:spPr>
      </p:pic>
      <p:pic>
        <p:nvPicPr>
          <p:cNvPr id="4" name="Image 1" descr="preencoded.png">    </p:cNvPr>
          <p:cNvPicPr>
            <a:picLocks noChangeAspect="1"/>
          </p:cNvPicPr>
          <p:nvPr/>
        </p:nvPicPr>
        <p:blipFill>
          <a:blip r:embed="rId2">
            <a:alphaModFix amt="55000"/>
          </a:blip>
          <a:stretch>
            <a:fillRect/>
          </a:stretch>
        </p:blipFill>
        <p:spPr>
          <a:xfrm>
            <a:off x="16554450" y="552450"/>
            <a:ext cx="590550" cy="659755"/>
          </a:xfrm>
          <a:prstGeom prst="rect">
            <a:avLst/>
          </a:prstGeom>
        </p:spPr>
      </p:pic>
      <p:sp>
        <p:nvSpPr>
          <p:cNvPr id="5" name="Text 1"/>
          <p:cNvSpPr/>
          <p:nvPr/>
        </p:nvSpPr>
        <p:spPr>
          <a:xfrm>
            <a:off x="2914650" y="2587526"/>
            <a:ext cx="2831217" cy="609600"/>
          </a:xfrm>
          <a:prstGeom prst="rect">
            <a:avLst/>
          </a:prstGeom>
          <a:noFill/>
          <a:ln/>
        </p:spPr>
        <p:txBody>
          <a:bodyPr wrap="square" lIns="25400" tIns="25400" rIns="25400" bIns="25400" rtlCol="0" anchor="t">
            <a:normAutofit/>
          </a:bodyPr>
          <a:lstStyle/>
          <a:p>
            <a:pPr algn="l" indent="0" marL="0">
              <a:lnSpc>
                <a:spcPct val="83333"/>
              </a:lnSpc>
              <a:buNone/>
            </a:pPr>
            <a:r>
              <a:rPr lang="en-US" sz="4500" spc="-90" kern="0" dirty="0">
                <a:solidFill>
                  <a:srgbClr val="E9E9ED"/>
                </a:solidFill>
                <a:latin typeface="Inter" pitchFamily="34" charset="0"/>
                <a:ea typeface="Inter" pitchFamily="34" charset="-122"/>
                <a:cs typeface="Inter" pitchFamily="34" charset="-120"/>
              </a:rPr>
              <a:t>Shlok</a:t>
            </a:r>
            <a:endParaRPr lang="en-US" sz="4500" dirty="0"/>
          </a:p>
        </p:txBody>
      </p:sp>
      <p:sp>
        <p:nvSpPr>
          <p:cNvPr id="6" name="Text 2"/>
          <p:cNvSpPr/>
          <p:nvPr/>
        </p:nvSpPr>
        <p:spPr>
          <a:xfrm>
            <a:off x="2914650" y="3292376"/>
            <a:ext cx="2831217" cy="381000"/>
          </a:xfrm>
          <a:prstGeom prst="rect">
            <a:avLst/>
          </a:prstGeom>
          <a:noFill/>
          <a:ln/>
        </p:spPr>
        <p:txBody>
          <a:bodyPr wrap="square" lIns="25400" tIns="25400" rIns="25400" bIns="25400" rtlCol="0" anchor="t">
            <a:normAutofit/>
          </a:bodyPr>
          <a:lstStyle/>
          <a:p>
            <a:pPr algn="l" indent="0" marL="0">
              <a:lnSpc>
                <a:spcPct val="124138"/>
              </a:lnSpc>
              <a:buNone/>
            </a:pPr>
            <a:r>
              <a:rPr lang="en-US" sz="1800" spc="144" kern="0" dirty="0">
                <a:solidFill>
                  <a:srgbClr val="9184D9"/>
                </a:solidFill>
                <a:latin typeface="Inter" pitchFamily="34" charset="0"/>
                <a:ea typeface="Inter" pitchFamily="34" charset="-122"/>
                <a:cs typeface="Inter" pitchFamily="34" charset="-120"/>
              </a:rPr>
              <a:t>ROLE, YEAR, MAJOR</a:t>
            </a:r>
            <a:endParaRPr lang="en-US" sz="1800" dirty="0"/>
          </a:p>
        </p:txBody>
      </p:sp>
      <p:sp>
        <p:nvSpPr>
          <p:cNvPr id="7" name="Shape 3"/>
          <p:cNvSpPr/>
          <p:nvPr/>
        </p:nvSpPr>
        <p:spPr>
          <a:xfrm>
            <a:off x="1143000" y="4206776"/>
            <a:ext cx="6953250" cy="9525"/>
          </a:xfrm>
          <a:prstGeom prst="rect">
            <a:avLst/>
          </a:prstGeom>
          <a:gradFill rotWithShape="1">
            <a:gsLst>
              <a:gs pos="0">
                <a:srgbClr val="E6E6EC">
                  <a:alpha val="0"/>
                </a:srgbClr>
              </a:gs>
              <a:gs pos="50000">
                <a:srgbClr val="E6E6EC">
                  <a:alpha val="16000"/>
                </a:srgbClr>
              </a:gs>
              <a:gs pos="100000">
                <a:srgbClr val="E6E6EC">
                  <a:alpha val="16000"/>
                </a:srgbClr>
              </a:gs>
              <a:gs pos="100000">
                <a:srgbClr val="E6E6EC">
                  <a:alpha val="0"/>
                </a:srgbClr>
              </a:gs>
            </a:gsLst>
            <a:lin ang="0" scaled="0"/>
          </a:gradFill>
          <a:ln/>
        </p:spPr>
      </p:sp>
      <p:sp>
        <p:nvSpPr>
          <p:cNvPr id="8" name="Text 4"/>
          <p:cNvSpPr/>
          <p:nvPr/>
        </p:nvSpPr>
        <p:spPr>
          <a:xfrm>
            <a:off x="1143000" y="4559201"/>
            <a:ext cx="7161848" cy="1916311"/>
          </a:xfrm>
          <a:prstGeom prst="rect">
            <a:avLst/>
          </a:prstGeom>
          <a:noFill/>
          <a:ln/>
        </p:spPr>
        <p:txBody>
          <a:bodyPr wrap="square" lIns="25400" tIns="25400" rIns="25400" bIns="25400" rtlCol="0" anchor="t">
            <a:normAutofit/>
          </a:bodyPr>
          <a:lstStyle/>
          <a:p>
            <a:pPr algn="l" indent="0" marL="0">
              <a:lnSpc>
                <a:spcPct val="120244"/>
              </a:lnSpc>
              <a:buNone/>
            </a:pPr>
            <a:r>
              <a:rPr lang="en-US" sz="2550" dirty="0">
                <a:solidFill>
                  <a:srgbClr val="CFD3E5"/>
                </a:solidFill>
                <a:latin typeface="Inter" pitchFamily="34" charset="0"/>
                <a:ea typeface="Inter" pitchFamily="34" charset="-122"/>
                <a:cs typeface="Inter" pitchFamily="34" charset="-120"/>
              </a:rPr>
              <a:t>Three or four sentences in his own voice. What he studies, what he was working on before this, and the specific thing that got him into quantum in the first place.</a:t>
            </a:r>
            <a:endParaRPr lang="en-US" sz="2550" dirty="0"/>
          </a:p>
        </p:txBody>
      </p:sp>
      <p:sp>
        <p:nvSpPr>
          <p:cNvPr id="9" name="Text 5"/>
          <p:cNvSpPr/>
          <p:nvPr/>
        </p:nvSpPr>
        <p:spPr>
          <a:xfrm>
            <a:off x="1143000" y="6723162"/>
            <a:ext cx="7161848" cy="1281113"/>
          </a:xfrm>
          <a:prstGeom prst="rect">
            <a:avLst/>
          </a:prstGeom>
          <a:noFill/>
          <a:ln/>
        </p:spPr>
        <p:txBody>
          <a:bodyPr wrap="square" lIns="25400" tIns="25400" rIns="25400" bIns="25400" rtlCol="0" anchor="t">
            <a:normAutofit/>
          </a:bodyPr>
          <a:lstStyle/>
          <a:p>
            <a:pPr algn="l" indent="0" marL="0">
              <a:lnSpc>
                <a:spcPct val="120833"/>
              </a:lnSpc>
              <a:buNone/>
            </a:pPr>
            <a:r>
              <a:rPr lang="en-US" sz="2250" dirty="0">
                <a:solidFill>
                  <a:srgbClr val="B2B6CA"/>
                </a:solidFill>
                <a:latin typeface="Inter" pitchFamily="34" charset="0"/>
                <a:ea typeface="Inter" pitchFamily="34" charset="-122"/>
                <a:cs typeface="Inter" pitchFamily="34" charset="-120"/>
              </a:rPr>
              <a:t>Close it on what he wants out of the society this year, so the room hears an actual person rather than a title.</a:t>
            </a:r>
            <a:endParaRPr lang="en-US" sz="2250" dirty="0"/>
          </a:p>
        </p:txBody>
      </p:sp>
      <p:sp>
        <p:nvSpPr>
          <p:cNvPr id="10" name="Text 6"/>
          <p:cNvSpPr/>
          <p:nvPr/>
        </p:nvSpPr>
        <p:spPr>
          <a:xfrm>
            <a:off x="11010900" y="2587526"/>
            <a:ext cx="2831217" cy="609600"/>
          </a:xfrm>
          <a:prstGeom prst="rect">
            <a:avLst/>
          </a:prstGeom>
          <a:noFill/>
          <a:ln/>
        </p:spPr>
        <p:txBody>
          <a:bodyPr wrap="square" lIns="25400" tIns="25400" rIns="25400" bIns="25400" rtlCol="0" anchor="t">
            <a:normAutofit/>
          </a:bodyPr>
          <a:lstStyle/>
          <a:p>
            <a:pPr algn="l" indent="0" marL="0">
              <a:lnSpc>
                <a:spcPct val="83333"/>
              </a:lnSpc>
              <a:buNone/>
            </a:pPr>
            <a:r>
              <a:rPr lang="en-US" sz="4500" spc="-90" kern="0" dirty="0">
                <a:solidFill>
                  <a:srgbClr val="E9E9ED"/>
                </a:solidFill>
                <a:latin typeface="Inter" pitchFamily="34" charset="0"/>
                <a:ea typeface="Inter" pitchFamily="34" charset="-122"/>
                <a:cs typeface="Inter" pitchFamily="34" charset="-120"/>
              </a:rPr>
              <a:t>Jack</a:t>
            </a:r>
            <a:endParaRPr lang="en-US" sz="4500" dirty="0"/>
          </a:p>
        </p:txBody>
      </p:sp>
      <p:sp>
        <p:nvSpPr>
          <p:cNvPr id="11" name="Text 7"/>
          <p:cNvSpPr/>
          <p:nvPr/>
        </p:nvSpPr>
        <p:spPr>
          <a:xfrm>
            <a:off x="11010900" y="3292376"/>
            <a:ext cx="2831217" cy="381000"/>
          </a:xfrm>
          <a:prstGeom prst="rect">
            <a:avLst/>
          </a:prstGeom>
          <a:noFill/>
          <a:ln/>
        </p:spPr>
        <p:txBody>
          <a:bodyPr wrap="square" lIns="25400" tIns="25400" rIns="25400" bIns="25400" rtlCol="0" anchor="t">
            <a:normAutofit/>
          </a:bodyPr>
          <a:lstStyle/>
          <a:p>
            <a:pPr algn="l" indent="0" marL="0">
              <a:lnSpc>
                <a:spcPct val="124138"/>
              </a:lnSpc>
              <a:buNone/>
            </a:pPr>
            <a:r>
              <a:rPr lang="en-US" sz="1800" spc="144" kern="0" dirty="0">
                <a:solidFill>
                  <a:srgbClr val="9184D9"/>
                </a:solidFill>
                <a:latin typeface="Inter" pitchFamily="34" charset="0"/>
                <a:ea typeface="Inter" pitchFamily="34" charset="-122"/>
                <a:cs typeface="Inter" pitchFamily="34" charset="-120"/>
              </a:rPr>
              <a:t>ROLE, YEAR, MAJOR</a:t>
            </a:r>
            <a:endParaRPr lang="en-US" sz="1800" dirty="0"/>
          </a:p>
        </p:txBody>
      </p:sp>
      <p:sp>
        <p:nvSpPr>
          <p:cNvPr id="12" name="Shape 8"/>
          <p:cNvSpPr/>
          <p:nvPr/>
        </p:nvSpPr>
        <p:spPr>
          <a:xfrm>
            <a:off x="9239250" y="4206776"/>
            <a:ext cx="6953250" cy="9525"/>
          </a:xfrm>
          <a:prstGeom prst="rect">
            <a:avLst/>
          </a:prstGeom>
          <a:gradFill rotWithShape="1">
            <a:gsLst>
              <a:gs pos="0">
                <a:srgbClr val="E6E6EC">
                  <a:alpha val="0"/>
                </a:srgbClr>
              </a:gs>
              <a:gs pos="50000">
                <a:srgbClr val="E6E6EC">
                  <a:alpha val="16000"/>
                </a:srgbClr>
              </a:gs>
              <a:gs pos="100000">
                <a:srgbClr val="E6E6EC">
                  <a:alpha val="16000"/>
                </a:srgbClr>
              </a:gs>
              <a:gs pos="100000">
                <a:srgbClr val="E6E6EC">
                  <a:alpha val="0"/>
                </a:srgbClr>
              </a:gs>
            </a:gsLst>
            <a:lin ang="0" scaled="0"/>
          </a:gradFill>
          <a:ln/>
        </p:spPr>
      </p:sp>
      <p:sp>
        <p:nvSpPr>
          <p:cNvPr id="13" name="Text 9"/>
          <p:cNvSpPr/>
          <p:nvPr/>
        </p:nvSpPr>
        <p:spPr>
          <a:xfrm>
            <a:off x="9239250" y="4559201"/>
            <a:ext cx="7161848" cy="1916311"/>
          </a:xfrm>
          <a:prstGeom prst="rect">
            <a:avLst/>
          </a:prstGeom>
          <a:noFill/>
          <a:ln/>
        </p:spPr>
        <p:txBody>
          <a:bodyPr wrap="square" lIns="25400" tIns="25400" rIns="25400" bIns="25400" rtlCol="0" anchor="t">
            <a:normAutofit/>
          </a:bodyPr>
          <a:lstStyle/>
          <a:p>
            <a:pPr algn="l" indent="0" marL="0">
              <a:lnSpc>
                <a:spcPct val="120244"/>
              </a:lnSpc>
              <a:buNone/>
            </a:pPr>
            <a:r>
              <a:rPr lang="en-US" sz="2550" dirty="0">
                <a:solidFill>
                  <a:srgbClr val="CFD3E5"/>
                </a:solidFill>
                <a:latin typeface="Inter" pitchFamily="34" charset="0"/>
                <a:ea typeface="Inter" pitchFamily="34" charset="-122"/>
                <a:cs typeface="Inter" pitchFamily="34" charset="-120"/>
              </a:rPr>
              <a:t>Same shape for Jack, and worth making it different in kind rather than a mirror image. If one of you came from physics and the other from code, say so plainly.</a:t>
            </a:r>
            <a:endParaRPr lang="en-US" sz="2550" dirty="0"/>
          </a:p>
        </p:txBody>
      </p:sp>
      <p:sp>
        <p:nvSpPr>
          <p:cNvPr id="14" name="Text 10"/>
          <p:cNvSpPr/>
          <p:nvPr/>
        </p:nvSpPr>
        <p:spPr>
          <a:xfrm>
            <a:off x="9239250" y="6723162"/>
            <a:ext cx="7161848" cy="866775"/>
          </a:xfrm>
          <a:prstGeom prst="rect">
            <a:avLst/>
          </a:prstGeom>
          <a:noFill/>
          <a:ln/>
        </p:spPr>
        <p:txBody>
          <a:bodyPr wrap="square" lIns="25400" tIns="25400" rIns="25400" bIns="25400" rtlCol="0" anchor="t">
            <a:normAutofit/>
          </a:bodyPr>
          <a:lstStyle/>
          <a:p>
            <a:pPr algn="l" indent="0" marL="0">
              <a:lnSpc>
                <a:spcPct val="120833"/>
              </a:lnSpc>
              <a:buNone/>
            </a:pPr>
            <a:r>
              <a:rPr lang="en-US" sz="2250" dirty="0">
                <a:solidFill>
                  <a:srgbClr val="B2B6CA"/>
                </a:solidFill>
                <a:latin typeface="Inter" pitchFamily="34" charset="0"/>
                <a:ea typeface="Inter" pitchFamily="34" charset="-122"/>
                <a:cs typeface="Inter" pitchFamily="34" charset="-120"/>
              </a:rPr>
              <a:t>A line about what he handles week to week gives people the right person to go ask about it.</a:t>
            </a:r>
            <a:endParaRPr lang="en-US" sz="2250" dirty="0"/>
          </a:p>
        </p:txBody>
      </p:sp>
      <p:sp>
        <p:nvSpPr>
          <p:cNvPr id="15" name="Text 11"/>
          <p:cNvSpPr/>
          <p:nvPr/>
        </p:nvSpPr>
        <p:spPr>
          <a:xfrm>
            <a:off x="16907768" y="9418439"/>
            <a:ext cx="313432" cy="392311"/>
          </a:xfrm>
          <a:prstGeom prst="rect">
            <a:avLst/>
          </a:prstGeom>
          <a:noFill/>
          <a:ln/>
        </p:spPr>
        <p:txBody>
          <a:bodyPr wrap="square" lIns="25400" tIns="25400" rIns="25400" bIns="25400" rtlCol="0" anchor="t">
            <a:normAutofit/>
          </a:bodyPr>
          <a:lstStyle/>
          <a:p>
            <a:pPr algn="l" indent="0" marL="0">
              <a:lnSpc>
                <a:spcPct val="128276"/>
              </a:lnSpc>
              <a:buNone/>
            </a:pPr>
            <a:r>
              <a:rPr lang="en-US" sz="1800" dirty="0">
                <a:solidFill>
                  <a:srgbClr val="75798C"/>
                </a:solidFill>
                <a:latin typeface="Inter" pitchFamily="34" charset="0"/>
                <a:ea typeface="Inter" pitchFamily="34" charset="-122"/>
                <a:cs typeface="Inter" pitchFamily="34" charset="-120"/>
              </a:rPr>
              <a:t>01</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pic>
        <p:nvPicPr>
          <p:cNvPr id="3" name="Image 0" descr="preencoded.png">    </p:cNvPr>
          <p:cNvPicPr>
            <a:picLocks noChangeAspect="1"/>
          </p:cNvPicPr>
          <p:nvPr/>
        </p:nvPicPr>
        <p:blipFill>
          <a:blip r:embed="rId1">
            <a:alphaModFix amt="55000"/>
          </a:blip>
          <a:stretch>
            <a:fillRect/>
          </a:stretch>
        </p:blipFill>
        <p:spPr>
          <a:xfrm>
            <a:off x="16554450" y="552450"/>
            <a:ext cx="590550" cy="659755"/>
          </a:xfrm>
          <a:prstGeom prst="rect">
            <a:avLst/>
          </a:prstGeom>
        </p:spPr>
      </p:pic>
      <p:sp>
        <p:nvSpPr>
          <p:cNvPr id="4" name="Text 1"/>
          <p:cNvSpPr/>
          <p:nvPr/>
        </p:nvSpPr>
        <p:spPr>
          <a:xfrm>
            <a:off x="1143000" y="2950964"/>
            <a:ext cx="5684044" cy="481012"/>
          </a:xfrm>
          <a:prstGeom prst="rect">
            <a:avLst/>
          </a:prstGeom>
          <a:noFill/>
          <a:ln/>
        </p:spPr>
        <p:txBody>
          <a:bodyPr wrap="square" lIns="25400" tIns="25400" rIns="25400" bIns="25400" rtlCol="0" anchor="t">
            <a:normAutofit/>
          </a:bodyPr>
          <a:lstStyle/>
          <a:p>
            <a:pPr algn="l" indent="0" marL="0">
              <a:lnSpc>
                <a:spcPct val="129167"/>
              </a:lnSpc>
              <a:buNone/>
            </a:pPr>
            <a:r>
              <a:rPr lang="en-US" sz="2250" dirty="0">
                <a:solidFill>
                  <a:srgbClr val="9184D9"/>
                </a:solidFill>
                <a:latin typeface="Inter" pitchFamily="34" charset="0"/>
                <a:ea typeface="Inter" pitchFamily="34" charset="-122"/>
                <a:cs typeface="Inter" pitchFamily="34" charset="-120"/>
              </a:rPr>
              <a:t>01</a:t>
            </a:r>
            <a:endParaRPr lang="en-US" sz="2250" dirty="0"/>
          </a:p>
        </p:txBody>
      </p:sp>
      <p:sp>
        <p:nvSpPr>
          <p:cNvPr id="5" name="Text 2"/>
          <p:cNvSpPr/>
          <p:nvPr/>
        </p:nvSpPr>
        <p:spPr>
          <a:xfrm>
            <a:off x="1143000" y="3679627"/>
            <a:ext cx="5322332" cy="1037034"/>
          </a:xfrm>
          <a:prstGeom prst="rect">
            <a:avLst/>
          </a:prstGeom>
          <a:noFill/>
          <a:ln/>
        </p:spPr>
        <p:txBody>
          <a:bodyPr wrap="square" lIns="25400" tIns="25400" rIns="25400" bIns="25400" rtlCol="0" anchor="t">
            <a:normAutofit/>
          </a:bodyPr>
          <a:lstStyle/>
          <a:p>
            <a:pPr algn="l" indent="0" marL="0">
              <a:lnSpc>
                <a:spcPct val="93643"/>
              </a:lnSpc>
              <a:buNone/>
            </a:pPr>
            <a:r>
              <a:rPr lang="en-US" sz="3450" spc="-52" kern="0" dirty="0">
                <a:solidFill>
                  <a:srgbClr val="E9E9ED"/>
                </a:solidFill>
                <a:latin typeface="Inter" pitchFamily="34" charset="0"/>
                <a:ea typeface="Inter" pitchFamily="34" charset="-122"/>
                <a:cs typeface="Inter" pitchFamily="34" charset="-120"/>
              </a:rPr>
              <a:t>Intro to Quantum Programming</a:t>
            </a:r>
            <a:endParaRPr lang="en-US" sz="3450" dirty="0"/>
          </a:p>
        </p:txBody>
      </p:sp>
      <p:sp>
        <p:nvSpPr>
          <p:cNvPr id="6" name="Text 3"/>
          <p:cNvSpPr/>
          <p:nvPr/>
        </p:nvSpPr>
        <p:spPr>
          <a:xfrm>
            <a:off x="1143000" y="4926211"/>
            <a:ext cx="5322332" cy="2524125"/>
          </a:xfrm>
          <a:prstGeom prst="rect">
            <a:avLst/>
          </a:prstGeom>
          <a:noFill/>
          <a:ln/>
        </p:spPr>
        <p:txBody>
          <a:bodyPr wrap="square" lIns="25400" tIns="25400" rIns="25400" bIns="25400" rtlCol="0" anchor="t">
            <a:normAutofit/>
          </a:bodyPr>
          <a:lstStyle/>
          <a:p>
            <a:pPr algn="l" indent="0" marL="0">
              <a:lnSpc>
                <a:spcPct val="120833"/>
              </a:lnSpc>
              <a:buNone/>
            </a:pPr>
            <a:r>
              <a:rPr lang="en-US" sz="2250" dirty="0">
                <a:solidFill>
                  <a:srgbClr val="CFD3E5"/>
                </a:solidFill>
                <a:latin typeface="Inter" pitchFamily="34" charset="0"/>
                <a:ea typeface="Inter" pitchFamily="34" charset="-122"/>
                <a:cs typeface="Inter" pitchFamily="34" charset="-120"/>
              </a:rPr>
              <a:t>A workshop track that starts at vectors and ends with your own circuit running on IBM hardware. No prerequisites, and every session is standalone enough that missing one does not lock you out.</a:t>
            </a:r>
            <a:endParaRPr lang="en-US" sz="2250" dirty="0"/>
          </a:p>
        </p:txBody>
      </p:sp>
      <p:sp>
        <p:nvSpPr>
          <p:cNvPr id="7" name="Shape 4"/>
          <p:cNvSpPr/>
          <p:nvPr/>
        </p:nvSpPr>
        <p:spPr>
          <a:xfrm>
            <a:off x="7072313" y="2950964"/>
            <a:ext cx="9525" cy="4461272"/>
          </a:xfrm>
          <a:prstGeom prst="rect">
            <a:avLst/>
          </a:prstGeom>
          <a:solidFill>
            <a:srgbClr val="E6E6EC">
              <a:alpha val="16000"/>
            </a:srgbClr>
          </a:solidFill>
          <a:ln/>
        </p:spPr>
      </p:sp>
      <p:sp>
        <p:nvSpPr>
          <p:cNvPr id="8" name="Text 5"/>
          <p:cNvSpPr/>
          <p:nvPr/>
        </p:nvSpPr>
        <p:spPr>
          <a:xfrm>
            <a:off x="7843838" y="2950964"/>
            <a:ext cx="3748326" cy="481012"/>
          </a:xfrm>
          <a:prstGeom prst="rect">
            <a:avLst/>
          </a:prstGeom>
          <a:noFill/>
          <a:ln/>
        </p:spPr>
        <p:txBody>
          <a:bodyPr wrap="square" lIns="25400" tIns="25400" rIns="25400" bIns="25400" rtlCol="0" anchor="t">
            <a:normAutofit/>
          </a:bodyPr>
          <a:lstStyle/>
          <a:p>
            <a:pPr algn="l" indent="0" marL="0">
              <a:lnSpc>
                <a:spcPct val="129167"/>
              </a:lnSpc>
              <a:buNone/>
            </a:pPr>
            <a:r>
              <a:rPr lang="en-US" sz="2250" dirty="0">
                <a:solidFill>
                  <a:srgbClr val="9184D9"/>
                </a:solidFill>
                <a:latin typeface="Inter" pitchFamily="34" charset="0"/>
                <a:ea typeface="Inter" pitchFamily="34" charset="-122"/>
                <a:cs typeface="Inter" pitchFamily="34" charset="-120"/>
              </a:rPr>
              <a:t>02</a:t>
            </a:r>
            <a:endParaRPr lang="en-US" sz="2250" dirty="0"/>
          </a:p>
        </p:txBody>
      </p:sp>
      <p:sp>
        <p:nvSpPr>
          <p:cNvPr id="9" name="Text 6"/>
          <p:cNvSpPr/>
          <p:nvPr/>
        </p:nvSpPr>
        <p:spPr>
          <a:xfrm>
            <a:off x="7843838" y="3679627"/>
            <a:ext cx="3509796" cy="906661"/>
          </a:xfrm>
          <a:prstGeom prst="rect">
            <a:avLst/>
          </a:prstGeom>
          <a:noFill/>
          <a:ln/>
        </p:spPr>
        <p:txBody>
          <a:bodyPr wrap="square" lIns="25400" tIns="25400" rIns="25400" bIns="25400" rtlCol="0" anchor="t">
            <a:normAutofit/>
          </a:bodyPr>
          <a:lstStyle/>
          <a:p>
            <a:pPr algn="l" indent="0" marL="0">
              <a:lnSpc>
                <a:spcPct val="93061"/>
              </a:lnSpc>
              <a:buNone/>
            </a:pPr>
            <a:r>
              <a:rPr lang="en-US" sz="3000" spc="-30" kern="0" dirty="0">
                <a:solidFill>
                  <a:srgbClr val="E9E9ED"/>
                </a:solidFill>
                <a:latin typeface="Inter" pitchFamily="34" charset="0"/>
                <a:ea typeface="Inter" pitchFamily="34" charset="-122"/>
                <a:cs typeface="Inter" pitchFamily="34" charset="-120"/>
              </a:rPr>
              <a:t>Speakers and colloquiums</a:t>
            </a:r>
            <a:endParaRPr lang="en-US" sz="3000" dirty="0"/>
          </a:p>
        </p:txBody>
      </p:sp>
      <p:sp>
        <p:nvSpPr>
          <p:cNvPr id="10" name="Text 7"/>
          <p:cNvSpPr/>
          <p:nvPr/>
        </p:nvSpPr>
        <p:spPr>
          <a:xfrm>
            <a:off x="7843838" y="4795838"/>
            <a:ext cx="3509796" cy="2524125"/>
          </a:xfrm>
          <a:prstGeom prst="rect">
            <a:avLst/>
          </a:prstGeom>
          <a:noFill/>
          <a:ln/>
        </p:spPr>
        <p:txBody>
          <a:bodyPr wrap="square" lIns="25400" tIns="25400" rIns="25400" bIns="25400" rtlCol="0" anchor="t">
            <a:normAutofit/>
          </a:bodyPr>
          <a:lstStyle/>
          <a:p>
            <a:pPr algn="l" indent="0" marL="0">
              <a:lnSpc>
                <a:spcPct val="120833"/>
              </a:lnSpc>
              <a:buNone/>
            </a:pPr>
            <a:r>
              <a:rPr lang="en-US" sz="2250" dirty="0">
                <a:solidFill>
                  <a:srgbClr val="CFD3E5"/>
                </a:solidFill>
                <a:latin typeface="Inter" pitchFamily="34" charset="0"/>
                <a:ea typeface="Inter" pitchFamily="34" charset="-122"/>
                <a:cs typeface="Inter" pitchFamily="34" charset="-120"/>
              </a:rPr>
              <a:t>Faculty and industry researchers, plus the department colloquiums worth showing up to. We go as a group and get dinner after.</a:t>
            </a:r>
            <a:endParaRPr lang="en-US" sz="2250" dirty="0"/>
          </a:p>
        </p:txBody>
      </p:sp>
      <p:sp>
        <p:nvSpPr>
          <p:cNvPr id="11" name="Shape 8"/>
          <p:cNvSpPr/>
          <p:nvPr/>
        </p:nvSpPr>
        <p:spPr>
          <a:xfrm>
            <a:off x="12013406" y="2950964"/>
            <a:ext cx="9525" cy="4461272"/>
          </a:xfrm>
          <a:prstGeom prst="rect">
            <a:avLst/>
          </a:prstGeom>
          <a:solidFill>
            <a:srgbClr val="E6E6EC">
              <a:alpha val="16000"/>
            </a:srgbClr>
          </a:solidFill>
          <a:ln/>
        </p:spPr>
      </p:sp>
      <p:sp>
        <p:nvSpPr>
          <p:cNvPr id="12" name="Text 9"/>
          <p:cNvSpPr/>
          <p:nvPr/>
        </p:nvSpPr>
        <p:spPr>
          <a:xfrm>
            <a:off x="12784931" y="2950964"/>
            <a:ext cx="4586526" cy="481012"/>
          </a:xfrm>
          <a:prstGeom prst="rect">
            <a:avLst/>
          </a:prstGeom>
          <a:noFill/>
          <a:ln/>
        </p:spPr>
        <p:txBody>
          <a:bodyPr wrap="square" lIns="25400" tIns="25400" rIns="25400" bIns="25400" rtlCol="0" anchor="t">
            <a:normAutofit/>
          </a:bodyPr>
          <a:lstStyle/>
          <a:p>
            <a:pPr algn="l" indent="0" marL="0">
              <a:lnSpc>
                <a:spcPct val="129167"/>
              </a:lnSpc>
              <a:buNone/>
            </a:pPr>
            <a:r>
              <a:rPr lang="en-US" sz="2250" dirty="0">
                <a:solidFill>
                  <a:srgbClr val="9184D9"/>
                </a:solidFill>
                <a:latin typeface="Inter" pitchFamily="34" charset="0"/>
                <a:ea typeface="Inter" pitchFamily="34" charset="-122"/>
                <a:cs typeface="Inter" pitchFamily="34" charset="-120"/>
              </a:rPr>
              <a:t>03</a:t>
            </a:r>
            <a:endParaRPr lang="en-US" sz="2250" dirty="0"/>
          </a:p>
        </p:txBody>
      </p:sp>
      <p:sp>
        <p:nvSpPr>
          <p:cNvPr id="13" name="Text 10"/>
          <p:cNvSpPr/>
          <p:nvPr/>
        </p:nvSpPr>
        <p:spPr>
          <a:xfrm>
            <a:off x="12784931" y="3679627"/>
            <a:ext cx="4294656" cy="906661"/>
          </a:xfrm>
          <a:prstGeom prst="rect">
            <a:avLst/>
          </a:prstGeom>
          <a:noFill/>
          <a:ln/>
        </p:spPr>
        <p:txBody>
          <a:bodyPr wrap="square" lIns="25400" tIns="25400" rIns="25400" bIns="25400" rtlCol="0" anchor="t">
            <a:normAutofit/>
          </a:bodyPr>
          <a:lstStyle/>
          <a:p>
            <a:pPr algn="l" indent="0" marL="0">
              <a:lnSpc>
                <a:spcPct val="93061"/>
              </a:lnSpc>
              <a:buNone/>
            </a:pPr>
            <a:r>
              <a:rPr lang="en-US" sz="3000" spc="-30" kern="0" dirty="0">
                <a:solidFill>
                  <a:srgbClr val="E9E9ED"/>
                </a:solidFill>
                <a:latin typeface="Inter" pitchFamily="34" charset="0"/>
                <a:ea typeface="Inter" pitchFamily="34" charset="-122"/>
                <a:cs typeface="Inter" pitchFamily="34" charset="-120"/>
              </a:rPr>
              <a:t>Competitive hackathon team</a:t>
            </a:r>
            <a:endParaRPr lang="en-US" sz="3000" dirty="0"/>
          </a:p>
        </p:txBody>
      </p:sp>
      <p:sp>
        <p:nvSpPr>
          <p:cNvPr id="14" name="Text 11"/>
          <p:cNvSpPr/>
          <p:nvPr/>
        </p:nvSpPr>
        <p:spPr>
          <a:xfrm>
            <a:off x="12784931" y="4795838"/>
            <a:ext cx="4294656" cy="2109788"/>
          </a:xfrm>
          <a:prstGeom prst="rect">
            <a:avLst/>
          </a:prstGeom>
          <a:noFill/>
          <a:ln/>
        </p:spPr>
        <p:txBody>
          <a:bodyPr wrap="square" lIns="25400" tIns="25400" rIns="25400" bIns="25400" rtlCol="0" anchor="t">
            <a:normAutofit/>
          </a:bodyPr>
          <a:lstStyle/>
          <a:p>
            <a:pPr algn="l" indent="0" marL="0">
              <a:lnSpc>
                <a:spcPct val="120833"/>
              </a:lnSpc>
              <a:buNone/>
            </a:pPr>
            <a:r>
              <a:rPr lang="en-US" sz="2250" dirty="0">
                <a:solidFill>
                  <a:srgbClr val="CFD3E5"/>
                </a:solidFill>
                <a:latin typeface="Inter" pitchFamily="34" charset="0"/>
                <a:ea typeface="Inter" pitchFamily="34" charset="-122"/>
                <a:cs typeface="Inter" pitchFamily="34" charset="-120"/>
              </a:rPr>
              <a:t>A small team that trains for quantum hackathons and competitions. Selective, but the workshop track is how you get ready for it.</a:t>
            </a:r>
            <a:endParaRPr lang="en-US" sz="2250" dirty="0"/>
          </a:p>
        </p:txBody>
      </p:sp>
      <p:sp>
        <p:nvSpPr>
          <p:cNvPr id="15" name="Text 12"/>
          <p:cNvSpPr/>
          <p:nvPr/>
        </p:nvSpPr>
        <p:spPr>
          <a:xfrm>
            <a:off x="16861334" y="9418439"/>
            <a:ext cx="359866" cy="392311"/>
          </a:xfrm>
          <a:prstGeom prst="rect">
            <a:avLst/>
          </a:prstGeom>
          <a:noFill/>
          <a:ln/>
        </p:spPr>
        <p:txBody>
          <a:bodyPr wrap="square" lIns="25400" tIns="25400" rIns="25400" bIns="25400" rtlCol="0" anchor="t">
            <a:normAutofit/>
          </a:bodyPr>
          <a:lstStyle/>
          <a:p>
            <a:pPr algn="l" indent="0" marL="0">
              <a:lnSpc>
                <a:spcPct val="128276"/>
              </a:lnSpc>
              <a:buNone/>
            </a:pPr>
            <a:r>
              <a:rPr lang="en-US" sz="1800" dirty="0">
                <a:solidFill>
                  <a:srgbClr val="75798C"/>
                </a:solidFill>
                <a:latin typeface="Inter" pitchFamily="34" charset="0"/>
                <a:ea typeface="Inter" pitchFamily="34" charset="-122"/>
                <a:cs typeface="Inter" pitchFamily="34" charset="-120"/>
              </a:rPr>
              <a:t>02</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pic>
        <p:nvPicPr>
          <p:cNvPr id="3" name="Image 0" descr="preencoded.png">    </p:cNvPr>
          <p:cNvPicPr>
            <a:picLocks noChangeAspect="1"/>
          </p:cNvPicPr>
          <p:nvPr/>
        </p:nvPicPr>
        <p:blipFill>
          <a:blip r:embed="rId1">
            <a:alphaModFix amt="55000"/>
          </a:blip>
          <a:stretch>
            <a:fillRect/>
          </a:stretch>
        </p:blipFill>
        <p:spPr>
          <a:xfrm>
            <a:off x="16554450" y="552450"/>
            <a:ext cx="590550" cy="659755"/>
          </a:xfrm>
          <a:prstGeom prst="rect">
            <a:avLst/>
          </a:prstGeom>
        </p:spPr>
      </p:pic>
      <p:sp>
        <p:nvSpPr>
          <p:cNvPr id="4" name="Text 1"/>
          <p:cNvSpPr/>
          <p:nvPr/>
        </p:nvSpPr>
        <p:spPr>
          <a:xfrm>
            <a:off x="15311140" y="8302079"/>
            <a:ext cx="2101066" cy="952500"/>
          </a:xfrm>
          <a:prstGeom prst="rect">
            <a:avLst/>
          </a:prstGeom>
          <a:noFill/>
          <a:ln/>
        </p:spPr>
        <p:txBody>
          <a:bodyPr wrap="square" lIns="25400" tIns="25400" rIns="25400" bIns="25400" rtlCol="0" anchor="t">
            <a:normAutofit/>
          </a:bodyPr>
          <a:lstStyle/>
          <a:p>
            <a:pPr algn="l" indent="0" marL="0">
              <a:lnSpc>
                <a:spcPct val="82759"/>
              </a:lnSpc>
              <a:buNone/>
            </a:pPr>
            <a:r>
              <a:rPr lang="en-US" sz="7200" dirty="0">
                <a:solidFill>
                  <a:srgbClr val="9184D9">
                    <a:alpha val="14000"/>
                  </a:srgbClr>
                </a:solidFill>
                <a:latin typeface="Inter" pitchFamily="34" charset="0"/>
                <a:ea typeface="Inter" pitchFamily="34" charset="-122"/>
                <a:cs typeface="Inter" pitchFamily="34" charset="-120"/>
              </a:rPr>
              <a:t>⟨0|1⟩</a:t>
            </a:r>
            <a:endParaRPr lang="en-US" sz="7200" dirty="0"/>
          </a:p>
        </p:txBody>
      </p:sp>
      <p:sp>
        <p:nvSpPr>
          <p:cNvPr id="5" name="Text 2"/>
          <p:cNvSpPr/>
          <p:nvPr/>
        </p:nvSpPr>
        <p:spPr>
          <a:xfrm>
            <a:off x="1143000" y="1200150"/>
            <a:ext cx="16482060" cy="392311"/>
          </a:xfrm>
          <a:prstGeom prst="rect">
            <a:avLst/>
          </a:prstGeom>
          <a:noFill/>
          <a:ln/>
        </p:spPr>
        <p:txBody>
          <a:bodyPr wrap="square" lIns="25400" tIns="25400" rIns="25400" bIns="25400" rtlCol="0" anchor="t">
            <a:normAutofit/>
          </a:bodyPr>
          <a:lstStyle/>
          <a:p>
            <a:pPr algn="l" indent="0" marL="0">
              <a:lnSpc>
                <a:spcPct val="128276"/>
              </a:lnSpc>
              <a:buNone/>
            </a:pPr>
            <a:r>
              <a:rPr lang="en-US" sz="1800" spc="144" kern="0" dirty="0">
                <a:solidFill>
                  <a:srgbClr val="9184D9"/>
                </a:solidFill>
                <a:latin typeface="Inter" pitchFamily="34" charset="0"/>
                <a:ea typeface="Inter" pitchFamily="34" charset="-122"/>
                <a:cs typeface="Inter" pitchFamily="34" charset="-120"/>
              </a:rPr>
              <a:t>INTRO TO QUANTUM PROGRAMMING</a:t>
            </a:r>
            <a:endParaRPr lang="en-US" sz="1800" dirty="0"/>
          </a:p>
        </p:txBody>
      </p:sp>
      <p:sp>
        <p:nvSpPr>
          <p:cNvPr id="6" name="Text 3"/>
          <p:cNvSpPr/>
          <p:nvPr/>
        </p:nvSpPr>
        <p:spPr>
          <a:xfrm>
            <a:off x="1143000" y="1782961"/>
            <a:ext cx="9904565" cy="2175421"/>
          </a:xfrm>
          <a:prstGeom prst="rect">
            <a:avLst/>
          </a:prstGeom>
          <a:noFill/>
          <a:ln/>
        </p:spPr>
        <p:txBody>
          <a:bodyPr wrap="square" lIns="25400" tIns="25400" rIns="25400" bIns="25400" rtlCol="0" anchor="t">
            <a:normAutofit/>
          </a:bodyPr>
          <a:lstStyle/>
          <a:p>
            <a:pPr algn="l" indent="0" marL="0">
              <a:lnSpc>
                <a:spcPct val="91220"/>
              </a:lnSpc>
              <a:buNone/>
            </a:pPr>
            <a:r>
              <a:rPr lang="en-US" sz="5100" spc="-76" kern="0" dirty="0">
                <a:solidFill>
                  <a:srgbClr val="E9E9ED"/>
                </a:solidFill>
                <a:latin typeface="Inter" pitchFamily="34" charset="0"/>
                <a:ea typeface="Inter" pitchFamily="34" charset="-122"/>
                <a:cs typeface="Inter" pitchFamily="34" charset="-120"/>
              </a:rPr>
              <a:t>Fifteen weeks from no background to a circuit that runs</a:t>
            </a:r>
            <a:endParaRPr lang="en-US" sz="5100" dirty="0"/>
          </a:p>
        </p:txBody>
      </p:sp>
      <p:sp>
        <p:nvSpPr>
          <p:cNvPr id="7" name="Shape 4"/>
          <p:cNvSpPr/>
          <p:nvPr/>
        </p:nvSpPr>
        <p:spPr>
          <a:xfrm>
            <a:off x="1219200" y="4691807"/>
            <a:ext cx="15925800" cy="9525"/>
          </a:xfrm>
          <a:prstGeom prst="rect">
            <a:avLst/>
          </a:prstGeom>
          <a:gradFill rotWithShape="1">
            <a:gsLst>
              <a:gs pos="0">
                <a:srgbClr val="5D5294">
                  <a:alpha val="100000"/>
                </a:srgbClr>
              </a:gs>
              <a:gs pos="62000">
                <a:srgbClr val="423A6A">
                  <a:alpha val="100000"/>
                </a:srgbClr>
              </a:gs>
              <a:gs pos="100000">
                <a:srgbClr val="423A6A">
                  <a:alpha val="0"/>
                </a:srgbClr>
              </a:gs>
            </a:gsLst>
            <a:lin ang="0" scaled="0"/>
          </a:gradFill>
          <a:ln/>
        </p:spPr>
      </p:sp>
      <p:sp>
        <p:nvSpPr>
          <p:cNvPr id="8" name="Shape 5"/>
          <p:cNvSpPr/>
          <p:nvPr/>
        </p:nvSpPr>
        <p:spPr>
          <a:xfrm>
            <a:off x="1219200" y="5025182"/>
            <a:ext cx="14782800" cy="9525"/>
          </a:xfrm>
          <a:prstGeom prst="rect">
            <a:avLst/>
          </a:prstGeom>
          <a:gradFill rotWithShape="1">
            <a:gsLst>
              <a:gs pos="0">
                <a:srgbClr val="5D5294">
                  <a:alpha val="55000"/>
                </a:srgbClr>
              </a:gs>
              <a:gs pos="88000">
                <a:srgbClr val="5D5294">
                  <a:alpha val="0"/>
                </a:srgbClr>
              </a:gs>
            </a:gsLst>
            <a:lin ang="0" scaled="0"/>
          </a:gradFill>
          <a:ln/>
        </p:spPr>
      </p:sp>
      <p:sp>
        <p:nvSpPr>
          <p:cNvPr id="9" name="Shape 6"/>
          <p:cNvSpPr/>
          <p:nvPr/>
        </p:nvSpPr>
        <p:spPr>
          <a:xfrm>
            <a:off x="3009900" y="4882307"/>
            <a:ext cx="285750" cy="285750"/>
          </a:xfrm>
          <a:prstGeom prst="rect">
            <a:avLst/>
          </a:prstGeom>
          <a:solidFill>
            <a:srgbClr val="161826">
              <a:alpha val="70000"/>
            </a:srgbClr>
          </a:solidFill>
          <a:ln w="9525">
            <a:solidFill>
              <a:srgbClr val="796CBF">
                <a:alpha val="70000"/>
              </a:srgbClr>
            </a:solidFill>
            <a:prstDash val="solid"/>
          </a:ln>
        </p:spPr>
      </p:sp>
      <p:sp>
        <p:nvSpPr>
          <p:cNvPr id="10" name="Shape 7"/>
          <p:cNvSpPr/>
          <p:nvPr/>
        </p:nvSpPr>
        <p:spPr>
          <a:xfrm>
            <a:off x="7239000" y="4882307"/>
            <a:ext cx="285750" cy="285750"/>
          </a:xfrm>
          <a:prstGeom prst="ellipse">
            <a:avLst/>
          </a:prstGeom>
          <a:solidFill>
            <a:srgbClr val="161826">
              <a:alpha val="70000"/>
            </a:srgbClr>
          </a:solidFill>
          <a:ln w="9525">
            <a:solidFill>
              <a:srgbClr val="796CBF">
                <a:alpha val="70000"/>
              </a:srgbClr>
            </a:solidFill>
            <a:prstDash val="solid"/>
          </a:ln>
        </p:spPr>
      </p:sp>
      <p:sp>
        <p:nvSpPr>
          <p:cNvPr id="11" name="Shape 8"/>
          <p:cNvSpPr/>
          <p:nvPr/>
        </p:nvSpPr>
        <p:spPr>
          <a:xfrm>
            <a:off x="11430000" y="4882307"/>
            <a:ext cx="285750" cy="285750"/>
          </a:xfrm>
          <a:prstGeom prst="rect">
            <a:avLst/>
          </a:prstGeom>
          <a:solidFill>
            <a:srgbClr val="161826">
              <a:alpha val="70000"/>
            </a:srgbClr>
          </a:solidFill>
          <a:ln w="9525">
            <a:solidFill>
              <a:srgbClr val="796CBF">
                <a:alpha val="70000"/>
              </a:srgbClr>
            </a:solidFill>
            <a:prstDash val="solid"/>
          </a:ln>
        </p:spPr>
      </p:sp>
      <p:sp>
        <p:nvSpPr>
          <p:cNvPr id="12" name="Shape 9"/>
          <p:cNvSpPr/>
          <p:nvPr/>
        </p:nvSpPr>
        <p:spPr>
          <a:xfrm>
            <a:off x="1143000" y="4606082"/>
            <a:ext cx="171450" cy="171450"/>
          </a:xfrm>
          <a:prstGeom prst="ellipse">
            <a:avLst/>
          </a:prstGeom>
          <a:solidFill>
            <a:srgbClr val="9184D9"/>
          </a:solidFill>
          <a:ln/>
          <a:effectLst>
            <a:outerShdw sx="100000" sy="100000" kx="0" ky="0" algn="bl" rotWithShape="0" blurRad="101600" dist="50800" dir="16200000">
              <a:srgbClr val="000000">
                <a:alpha val="30000"/>
              </a:srgbClr>
            </a:outerShdw>
          </a:effectLst>
        </p:spPr>
      </p:sp>
      <p:sp>
        <p:nvSpPr>
          <p:cNvPr id="13" name="Text 10"/>
          <p:cNvSpPr/>
          <p:nvPr/>
        </p:nvSpPr>
        <p:spPr>
          <a:xfrm>
            <a:off x="1143000" y="5196632"/>
            <a:ext cx="3157165" cy="438150"/>
          </a:xfrm>
          <a:prstGeom prst="rect">
            <a:avLst/>
          </a:prstGeom>
          <a:noFill/>
          <a:ln/>
        </p:spPr>
        <p:txBody>
          <a:bodyPr wrap="square" lIns="25400" tIns="25400" rIns="25400" bIns="25400" rtlCol="0" anchor="t">
            <a:normAutofit/>
          </a:bodyPr>
          <a:lstStyle/>
          <a:p>
            <a:pPr algn="l" indent="0" marL="0">
              <a:lnSpc>
                <a:spcPct val="123529"/>
              </a:lnSpc>
              <a:buNone/>
            </a:pPr>
            <a:r>
              <a:rPr lang="en-US" sz="2100" spc="126" kern="0" dirty="0">
                <a:solidFill>
                  <a:srgbClr val="9184D9"/>
                </a:solidFill>
                <a:latin typeface="Inter" pitchFamily="34" charset="0"/>
                <a:ea typeface="Inter" pitchFamily="34" charset="-122"/>
                <a:cs typeface="Inter" pitchFamily="34" charset="-120"/>
              </a:rPr>
              <a:t>Weeks 1–3</a:t>
            </a:r>
            <a:endParaRPr lang="en-US" sz="2100" dirty="0"/>
          </a:p>
        </p:txBody>
      </p:sp>
      <p:sp>
        <p:nvSpPr>
          <p:cNvPr id="14" name="Text 11"/>
          <p:cNvSpPr/>
          <p:nvPr/>
        </p:nvSpPr>
        <p:spPr>
          <a:xfrm>
            <a:off x="1143000" y="5768132"/>
            <a:ext cx="3157165" cy="422077"/>
          </a:xfrm>
          <a:prstGeom prst="rect">
            <a:avLst/>
          </a:prstGeom>
          <a:noFill/>
          <a:ln/>
        </p:spPr>
        <p:txBody>
          <a:bodyPr wrap="square" lIns="25400" tIns="25400" rIns="25400" bIns="25400" rtlCol="0" anchor="t">
            <a:normAutofit/>
          </a:bodyPr>
          <a:lstStyle/>
          <a:p>
            <a:pPr algn="l" indent="0" marL="0">
              <a:lnSpc>
                <a:spcPct val="91636"/>
              </a:lnSpc>
              <a:buNone/>
            </a:pPr>
            <a:r>
              <a:rPr lang="en-US" sz="2700" spc="-27" kern="0" dirty="0">
                <a:solidFill>
                  <a:srgbClr val="E9E9ED"/>
                </a:solidFill>
                <a:latin typeface="Inter" pitchFamily="34" charset="0"/>
                <a:ea typeface="Inter" pitchFamily="34" charset="-122"/>
                <a:cs typeface="Inter" pitchFamily="34" charset="-120"/>
              </a:rPr>
              <a:t>Foundations</a:t>
            </a:r>
            <a:endParaRPr lang="en-US" sz="2700" dirty="0"/>
          </a:p>
        </p:txBody>
      </p:sp>
      <p:sp>
        <p:nvSpPr>
          <p:cNvPr id="15" name="Text 12"/>
          <p:cNvSpPr/>
          <p:nvPr/>
        </p:nvSpPr>
        <p:spPr>
          <a:xfrm>
            <a:off x="1143000" y="6323558"/>
            <a:ext cx="2956255" cy="1281113"/>
          </a:xfrm>
          <a:prstGeom prst="rect">
            <a:avLst/>
          </a:prstGeom>
          <a:noFill/>
          <a:ln/>
        </p:spPr>
        <p:txBody>
          <a:bodyPr wrap="square" lIns="25400" tIns="25400" rIns="25400" bIns="25400" rtlCol="0" anchor="t">
            <a:normAutofit/>
          </a:bodyPr>
          <a:lstStyle/>
          <a:p>
            <a:pPr algn="l" indent="0" marL="0">
              <a:lnSpc>
                <a:spcPct val="120833"/>
              </a:lnSpc>
              <a:buNone/>
            </a:pPr>
            <a:r>
              <a:rPr lang="en-US" sz="2250" dirty="0">
                <a:solidFill>
                  <a:srgbClr val="CFD3E5"/>
                </a:solidFill>
                <a:latin typeface="Inter" pitchFamily="34" charset="0"/>
                <a:ea typeface="Inter" pitchFamily="34" charset="-122"/>
                <a:cs typeface="Inter" pitchFamily="34" charset="-120"/>
              </a:rPr>
              <a:t>Vectors, matrices, the qubit. Taught from scratch.</a:t>
            </a:r>
            <a:endParaRPr lang="en-US" sz="2250" dirty="0"/>
          </a:p>
        </p:txBody>
      </p:sp>
      <p:sp>
        <p:nvSpPr>
          <p:cNvPr id="16" name="Shape 13"/>
          <p:cNvSpPr/>
          <p:nvPr/>
        </p:nvSpPr>
        <p:spPr>
          <a:xfrm>
            <a:off x="4927550" y="4606082"/>
            <a:ext cx="171450" cy="171450"/>
          </a:xfrm>
          <a:prstGeom prst="ellipse">
            <a:avLst/>
          </a:prstGeom>
          <a:solidFill>
            <a:srgbClr val="9184D9"/>
          </a:solidFill>
          <a:ln/>
          <a:effectLst>
            <a:outerShdw sx="100000" sy="100000" kx="0" ky="0" algn="bl" rotWithShape="0" blurRad="101600" dist="50800" dir="16200000">
              <a:srgbClr val="000000">
                <a:alpha val="30000"/>
              </a:srgbClr>
            </a:outerShdw>
          </a:effectLst>
        </p:spPr>
      </p:sp>
      <p:sp>
        <p:nvSpPr>
          <p:cNvPr id="17" name="Text 14"/>
          <p:cNvSpPr/>
          <p:nvPr/>
        </p:nvSpPr>
        <p:spPr>
          <a:xfrm>
            <a:off x="4927550" y="5196632"/>
            <a:ext cx="3327589" cy="438150"/>
          </a:xfrm>
          <a:prstGeom prst="rect">
            <a:avLst/>
          </a:prstGeom>
          <a:noFill/>
          <a:ln/>
        </p:spPr>
        <p:txBody>
          <a:bodyPr wrap="square" lIns="25400" tIns="25400" rIns="25400" bIns="25400" rtlCol="0" anchor="t">
            <a:normAutofit/>
          </a:bodyPr>
          <a:lstStyle/>
          <a:p>
            <a:pPr algn="l" indent="0" marL="0">
              <a:lnSpc>
                <a:spcPct val="123529"/>
              </a:lnSpc>
              <a:buNone/>
            </a:pPr>
            <a:r>
              <a:rPr lang="en-US" sz="2100" spc="126" kern="0" dirty="0">
                <a:solidFill>
                  <a:srgbClr val="9184D9"/>
                </a:solidFill>
                <a:latin typeface="Inter" pitchFamily="34" charset="0"/>
                <a:ea typeface="Inter" pitchFamily="34" charset="-122"/>
                <a:cs typeface="Inter" pitchFamily="34" charset="-120"/>
              </a:rPr>
              <a:t>Weeks 4–7</a:t>
            </a:r>
            <a:endParaRPr lang="en-US" sz="2100" dirty="0"/>
          </a:p>
        </p:txBody>
      </p:sp>
      <p:sp>
        <p:nvSpPr>
          <p:cNvPr id="18" name="Text 15"/>
          <p:cNvSpPr/>
          <p:nvPr/>
        </p:nvSpPr>
        <p:spPr>
          <a:xfrm>
            <a:off x="4927550" y="5768132"/>
            <a:ext cx="3327589" cy="422077"/>
          </a:xfrm>
          <a:prstGeom prst="rect">
            <a:avLst/>
          </a:prstGeom>
          <a:noFill/>
          <a:ln/>
        </p:spPr>
        <p:txBody>
          <a:bodyPr wrap="square" lIns="25400" tIns="25400" rIns="25400" bIns="25400" rtlCol="0" anchor="t">
            <a:normAutofit/>
          </a:bodyPr>
          <a:lstStyle/>
          <a:p>
            <a:pPr algn="l" indent="0" marL="0">
              <a:lnSpc>
                <a:spcPct val="91636"/>
              </a:lnSpc>
              <a:buNone/>
            </a:pPr>
            <a:r>
              <a:rPr lang="en-US" sz="2700" spc="-27" kern="0" dirty="0">
                <a:solidFill>
                  <a:srgbClr val="E9E9ED"/>
                </a:solidFill>
                <a:latin typeface="Inter" pitchFamily="34" charset="0"/>
                <a:ea typeface="Inter" pitchFamily="34" charset="-122"/>
                <a:cs typeface="Inter" pitchFamily="34" charset="-120"/>
              </a:rPr>
              <a:t>Circuits</a:t>
            </a:r>
            <a:endParaRPr lang="en-US" sz="2700" dirty="0"/>
          </a:p>
        </p:txBody>
      </p:sp>
      <p:sp>
        <p:nvSpPr>
          <p:cNvPr id="19" name="Text 16"/>
          <p:cNvSpPr/>
          <p:nvPr/>
        </p:nvSpPr>
        <p:spPr>
          <a:xfrm>
            <a:off x="4927550" y="6323558"/>
            <a:ext cx="3115833" cy="1281113"/>
          </a:xfrm>
          <a:prstGeom prst="rect">
            <a:avLst/>
          </a:prstGeom>
          <a:noFill/>
          <a:ln/>
        </p:spPr>
        <p:txBody>
          <a:bodyPr wrap="square" lIns="25400" tIns="25400" rIns="25400" bIns="25400" rtlCol="0" anchor="t">
            <a:normAutofit/>
          </a:bodyPr>
          <a:lstStyle/>
          <a:p>
            <a:pPr algn="l" indent="0" marL="0">
              <a:lnSpc>
                <a:spcPct val="120833"/>
              </a:lnSpc>
              <a:buNone/>
            </a:pPr>
            <a:r>
              <a:rPr lang="en-US" sz="2250" dirty="0">
                <a:solidFill>
                  <a:srgbClr val="CFD3E5"/>
                </a:solidFill>
                <a:latin typeface="Inter" pitchFamily="34" charset="0"/>
                <a:ea typeface="Inter" pitchFamily="34" charset="-122"/>
                <a:cs typeface="Inter" pitchFamily="34" charset="-120"/>
              </a:rPr>
              <a:t>Gates, measurement, and your first program running in Qiskit.</a:t>
            </a:r>
            <a:endParaRPr lang="en-US" sz="2250" dirty="0"/>
          </a:p>
        </p:txBody>
      </p:sp>
      <p:sp>
        <p:nvSpPr>
          <p:cNvPr id="20" name="Shape 17"/>
          <p:cNvSpPr/>
          <p:nvPr/>
        </p:nvSpPr>
        <p:spPr>
          <a:xfrm>
            <a:off x="8867031" y="4606082"/>
            <a:ext cx="171450" cy="171450"/>
          </a:xfrm>
          <a:prstGeom prst="ellipse">
            <a:avLst/>
          </a:prstGeom>
          <a:solidFill>
            <a:srgbClr val="9184D9"/>
          </a:solidFill>
          <a:ln/>
          <a:effectLst>
            <a:outerShdw sx="100000" sy="100000" kx="0" ky="0" algn="bl" rotWithShape="0" blurRad="101600" dist="50800" dir="16200000">
              <a:srgbClr val="000000">
                <a:alpha val="30000"/>
              </a:srgbClr>
            </a:outerShdw>
          </a:effectLst>
        </p:spPr>
      </p:sp>
      <p:sp>
        <p:nvSpPr>
          <p:cNvPr id="21" name="Text 18"/>
          <p:cNvSpPr/>
          <p:nvPr/>
        </p:nvSpPr>
        <p:spPr>
          <a:xfrm>
            <a:off x="8867031" y="5196632"/>
            <a:ext cx="3668598" cy="438150"/>
          </a:xfrm>
          <a:prstGeom prst="rect">
            <a:avLst/>
          </a:prstGeom>
          <a:noFill/>
          <a:ln/>
        </p:spPr>
        <p:txBody>
          <a:bodyPr wrap="square" lIns="25400" tIns="25400" rIns="25400" bIns="25400" rtlCol="0" anchor="t">
            <a:normAutofit/>
          </a:bodyPr>
          <a:lstStyle/>
          <a:p>
            <a:pPr algn="l" indent="0" marL="0">
              <a:lnSpc>
                <a:spcPct val="123529"/>
              </a:lnSpc>
              <a:buNone/>
            </a:pPr>
            <a:r>
              <a:rPr lang="en-US" sz="2100" spc="126" kern="0" dirty="0">
                <a:solidFill>
                  <a:srgbClr val="9184D9"/>
                </a:solidFill>
                <a:latin typeface="Inter" pitchFamily="34" charset="0"/>
                <a:ea typeface="Inter" pitchFamily="34" charset="-122"/>
                <a:cs typeface="Inter" pitchFamily="34" charset="-120"/>
              </a:rPr>
              <a:t>Weeks 8–11</a:t>
            </a:r>
            <a:endParaRPr lang="en-US" sz="2100" dirty="0"/>
          </a:p>
        </p:txBody>
      </p:sp>
      <p:sp>
        <p:nvSpPr>
          <p:cNvPr id="22" name="Text 19"/>
          <p:cNvSpPr/>
          <p:nvPr/>
        </p:nvSpPr>
        <p:spPr>
          <a:xfrm>
            <a:off x="8867031" y="5768132"/>
            <a:ext cx="3668598" cy="422077"/>
          </a:xfrm>
          <a:prstGeom prst="rect">
            <a:avLst/>
          </a:prstGeom>
          <a:noFill/>
          <a:ln/>
        </p:spPr>
        <p:txBody>
          <a:bodyPr wrap="square" lIns="25400" tIns="25400" rIns="25400" bIns="25400" rtlCol="0" anchor="t">
            <a:normAutofit/>
          </a:bodyPr>
          <a:lstStyle/>
          <a:p>
            <a:pPr algn="l" indent="0" marL="0">
              <a:lnSpc>
                <a:spcPct val="91636"/>
              </a:lnSpc>
              <a:buNone/>
            </a:pPr>
            <a:r>
              <a:rPr lang="en-US" sz="2700" spc="-27" kern="0" dirty="0">
                <a:solidFill>
                  <a:srgbClr val="E9E9ED"/>
                </a:solidFill>
                <a:latin typeface="Inter" pitchFamily="34" charset="0"/>
                <a:ea typeface="Inter" pitchFamily="34" charset="-122"/>
                <a:cs typeface="Inter" pitchFamily="34" charset="-120"/>
              </a:rPr>
              <a:t>Algorithms</a:t>
            </a:r>
            <a:endParaRPr lang="en-US" sz="2700" dirty="0"/>
          </a:p>
        </p:txBody>
      </p:sp>
      <p:sp>
        <p:nvSpPr>
          <p:cNvPr id="23" name="Text 20"/>
          <p:cNvSpPr/>
          <p:nvPr/>
        </p:nvSpPr>
        <p:spPr>
          <a:xfrm>
            <a:off x="8867031" y="6323558"/>
            <a:ext cx="3435142" cy="2109788"/>
          </a:xfrm>
          <a:prstGeom prst="rect">
            <a:avLst/>
          </a:prstGeom>
          <a:noFill/>
          <a:ln/>
        </p:spPr>
        <p:txBody>
          <a:bodyPr wrap="square" lIns="25400" tIns="25400" rIns="25400" bIns="25400" rtlCol="0" anchor="t">
            <a:normAutofit/>
          </a:bodyPr>
          <a:lstStyle/>
          <a:p>
            <a:pPr algn="l" indent="0" marL="0">
              <a:lnSpc>
                <a:spcPct val="120833"/>
              </a:lnSpc>
              <a:buNone/>
            </a:pPr>
            <a:r>
              <a:rPr lang="en-US" sz="2250" dirty="0">
                <a:solidFill>
                  <a:srgbClr val="CFD3E5"/>
                </a:solidFill>
                <a:latin typeface="Inter" pitchFamily="34" charset="0"/>
                <a:ea typeface="Inter" pitchFamily="34" charset="-122"/>
                <a:cs typeface="Inter" pitchFamily="34" charset="-120"/>
              </a:rPr>
              <a:t>Grover and Shor. Then the harder conversation about noise, error, and what today's machines genuinely cannot do yet.</a:t>
            </a:r>
            <a:endParaRPr lang="en-US" sz="2250" dirty="0"/>
          </a:p>
        </p:txBody>
      </p:sp>
      <p:sp>
        <p:nvSpPr>
          <p:cNvPr id="24" name="Shape 21"/>
          <p:cNvSpPr/>
          <p:nvPr/>
        </p:nvSpPr>
        <p:spPr>
          <a:xfrm>
            <a:off x="13116520" y="4606082"/>
            <a:ext cx="171450" cy="171450"/>
          </a:xfrm>
          <a:prstGeom prst="ellipse">
            <a:avLst/>
          </a:prstGeom>
          <a:solidFill>
            <a:srgbClr val="9184D9"/>
          </a:solidFill>
          <a:ln/>
          <a:effectLst>
            <a:outerShdw sx="100000" sy="100000" kx="0" ky="0" algn="bl" rotWithShape="0" blurRad="101600" dist="50800" dir="16200000">
              <a:srgbClr val="000000">
                <a:alpha val="30000"/>
              </a:srgbClr>
            </a:outerShdw>
          </a:effectLst>
        </p:spPr>
      </p:sp>
      <p:sp>
        <p:nvSpPr>
          <p:cNvPr id="25" name="Text 22"/>
          <p:cNvSpPr/>
          <p:nvPr/>
        </p:nvSpPr>
        <p:spPr>
          <a:xfrm>
            <a:off x="13116520" y="5196632"/>
            <a:ext cx="4179868" cy="438150"/>
          </a:xfrm>
          <a:prstGeom prst="rect">
            <a:avLst/>
          </a:prstGeom>
          <a:noFill/>
          <a:ln/>
        </p:spPr>
        <p:txBody>
          <a:bodyPr wrap="square" lIns="25400" tIns="25400" rIns="25400" bIns="25400" rtlCol="0" anchor="t">
            <a:normAutofit/>
          </a:bodyPr>
          <a:lstStyle/>
          <a:p>
            <a:pPr algn="l" indent="0" marL="0">
              <a:lnSpc>
                <a:spcPct val="123529"/>
              </a:lnSpc>
              <a:buNone/>
            </a:pPr>
            <a:r>
              <a:rPr lang="en-US" sz="2100" spc="126" kern="0" dirty="0">
                <a:solidFill>
                  <a:srgbClr val="9184D9"/>
                </a:solidFill>
                <a:latin typeface="Inter" pitchFamily="34" charset="0"/>
                <a:ea typeface="Inter" pitchFamily="34" charset="-122"/>
                <a:cs typeface="Inter" pitchFamily="34" charset="-120"/>
              </a:rPr>
              <a:t>Weeks 12–15</a:t>
            </a:r>
            <a:endParaRPr lang="en-US" sz="2100" dirty="0"/>
          </a:p>
        </p:txBody>
      </p:sp>
      <p:sp>
        <p:nvSpPr>
          <p:cNvPr id="26" name="Text 23"/>
          <p:cNvSpPr/>
          <p:nvPr/>
        </p:nvSpPr>
        <p:spPr>
          <a:xfrm>
            <a:off x="13116520" y="5768132"/>
            <a:ext cx="4179868" cy="422077"/>
          </a:xfrm>
          <a:prstGeom prst="rect">
            <a:avLst/>
          </a:prstGeom>
          <a:noFill/>
          <a:ln/>
        </p:spPr>
        <p:txBody>
          <a:bodyPr wrap="square" lIns="25400" tIns="25400" rIns="25400" bIns="25400" rtlCol="0" anchor="t">
            <a:normAutofit/>
          </a:bodyPr>
          <a:lstStyle/>
          <a:p>
            <a:pPr algn="l" indent="0" marL="0">
              <a:lnSpc>
                <a:spcPct val="91636"/>
              </a:lnSpc>
              <a:buNone/>
            </a:pPr>
            <a:r>
              <a:rPr lang="en-US" sz="2700" spc="-27" kern="0" dirty="0">
                <a:solidFill>
                  <a:srgbClr val="E9E9ED"/>
                </a:solidFill>
                <a:latin typeface="Inter" pitchFamily="34" charset="0"/>
                <a:ea typeface="Inter" pitchFamily="34" charset="-122"/>
                <a:cs typeface="Inter" pitchFamily="34" charset="-120"/>
              </a:rPr>
              <a:t>Build night</a:t>
            </a:r>
            <a:endParaRPr lang="en-US" sz="2700" dirty="0"/>
          </a:p>
        </p:txBody>
      </p:sp>
      <p:sp>
        <p:nvSpPr>
          <p:cNvPr id="27" name="Text 24"/>
          <p:cNvSpPr/>
          <p:nvPr/>
        </p:nvSpPr>
        <p:spPr>
          <a:xfrm>
            <a:off x="13116520" y="6323558"/>
            <a:ext cx="3913876" cy="866775"/>
          </a:xfrm>
          <a:prstGeom prst="rect">
            <a:avLst/>
          </a:prstGeom>
          <a:noFill/>
          <a:ln/>
        </p:spPr>
        <p:txBody>
          <a:bodyPr wrap="square" lIns="25400" tIns="25400" rIns="25400" bIns="25400" rtlCol="0" anchor="t">
            <a:normAutofit/>
          </a:bodyPr>
          <a:lstStyle/>
          <a:p>
            <a:pPr algn="l" indent="0" marL="0">
              <a:lnSpc>
                <a:spcPct val="120833"/>
              </a:lnSpc>
              <a:buNone/>
            </a:pPr>
            <a:r>
              <a:rPr lang="en-US" sz="2250" dirty="0">
                <a:solidFill>
                  <a:srgbClr val="CFD3E5"/>
                </a:solidFill>
                <a:latin typeface="Inter" pitchFamily="34" charset="0"/>
                <a:ea typeface="Inter" pitchFamily="34" charset="-122"/>
                <a:cs typeface="Inter" pitchFamily="34" charset="-120"/>
              </a:rPr>
              <a:t>Teams of two or three ship something and demo it.</a:t>
            </a:r>
            <a:endParaRPr lang="en-US" sz="2250" dirty="0"/>
          </a:p>
        </p:txBody>
      </p:sp>
      <p:sp>
        <p:nvSpPr>
          <p:cNvPr id="28" name="Text 25"/>
          <p:cNvSpPr/>
          <p:nvPr/>
        </p:nvSpPr>
        <p:spPr>
          <a:xfrm>
            <a:off x="1143000" y="8623846"/>
            <a:ext cx="9011480" cy="838200"/>
          </a:xfrm>
          <a:prstGeom prst="rect">
            <a:avLst/>
          </a:prstGeom>
          <a:noFill/>
          <a:ln/>
        </p:spPr>
        <p:txBody>
          <a:bodyPr wrap="square" lIns="25400" tIns="25400" rIns="25400" bIns="25400" rtlCol="0" anchor="t">
            <a:normAutofit/>
          </a:bodyPr>
          <a:lstStyle/>
          <a:p>
            <a:pPr algn="l" indent="0" marL="0">
              <a:lnSpc>
                <a:spcPct val="123529"/>
              </a:lnSpc>
              <a:buNone/>
            </a:pPr>
            <a:r>
              <a:rPr lang="en-US" sz="2100" dirty="0">
                <a:solidFill>
                  <a:srgbClr val="9397AB"/>
                </a:solidFill>
                <a:latin typeface="Inter" pitchFamily="34" charset="0"/>
                <a:ea typeface="Inter" pitchFamily="34" charset="-122"/>
                <a:cs typeface="Inter" pitchFamily="34" charset="-120"/>
              </a:rPr>
              <a:t>Members join at any phase. Nothing earlier is a prerequisite for showing up.</a:t>
            </a:r>
            <a:endParaRPr lang="en-US" sz="2100" dirty="0"/>
          </a:p>
        </p:txBody>
      </p:sp>
      <p:sp>
        <p:nvSpPr>
          <p:cNvPr id="29" name="Text 26"/>
          <p:cNvSpPr/>
          <p:nvPr/>
        </p:nvSpPr>
        <p:spPr>
          <a:xfrm>
            <a:off x="16859548" y="9418439"/>
            <a:ext cx="361652" cy="392311"/>
          </a:xfrm>
          <a:prstGeom prst="rect">
            <a:avLst/>
          </a:prstGeom>
          <a:noFill/>
          <a:ln/>
        </p:spPr>
        <p:txBody>
          <a:bodyPr wrap="square" lIns="25400" tIns="25400" rIns="25400" bIns="25400" rtlCol="0" anchor="t">
            <a:normAutofit/>
          </a:bodyPr>
          <a:lstStyle/>
          <a:p>
            <a:pPr algn="l" indent="0" marL="0">
              <a:lnSpc>
                <a:spcPct val="128276"/>
              </a:lnSpc>
              <a:buNone/>
            </a:pPr>
            <a:r>
              <a:rPr lang="en-US" sz="1800" dirty="0">
                <a:solidFill>
                  <a:srgbClr val="75798C"/>
                </a:solidFill>
                <a:latin typeface="Inter" pitchFamily="34" charset="0"/>
                <a:ea typeface="Inter" pitchFamily="34" charset="-122"/>
                <a:cs typeface="Inter" pitchFamily="34" charset="-120"/>
              </a:rPr>
              <a:t>03</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62A6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5000"/>
          </a:blip>
          <a:stretch>
            <a:fillRect/>
          </a:stretch>
        </p:blipFill>
        <p:spPr>
          <a:xfrm>
            <a:off x="16554450" y="552450"/>
            <a:ext cx="590550" cy="659755"/>
          </a:xfrm>
          <a:prstGeom prst="rect">
            <a:avLst/>
          </a:prstGeom>
        </p:spPr>
      </p:pic>
      <p:sp>
        <p:nvSpPr>
          <p:cNvPr id="3" name="Shape 0"/>
          <p:cNvSpPr/>
          <p:nvPr/>
        </p:nvSpPr>
        <p:spPr>
          <a:xfrm>
            <a:off x="13144500" y="5524500"/>
            <a:ext cx="7239000" cy="7239000"/>
          </a:xfrm>
          <a:prstGeom prst="ellipse">
            <a:avLst/>
          </a:prstGeom>
          <a:ln w="9525">
            <a:solidFill>
              <a:srgbClr val="F5F5FF">
                <a:alpha val="20000"/>
              </a:srgbClr>
            </a:solidFill>
            <a:prstDash val="solid"/>
          </a:ln>
        </p:spPr>
      </p:sp>
      <p:sp>
        <p:nvSpPr>
          <p:cNvPr id="4" name="Shape 1"/>
          <p:cNvSpPr/>
          <p:nvPr/>
        </p:nvSpPr>
        <p:spPr>
          <a:xfrm>
            <a:off x="14097000" y="6477000"/>
            <a:ext cx="5334000" cy="5334000"/>
          </a:xfrm>
          <a:prstGeom prst="ellipse">
            <a:avLst/>
          </a:prstGeom>
          <a:ln w="9525">
            <a:solidFill>
              <a:srgbClr val="F8F1FF">
                <a:alpha val="14000"/>
              </a:srgbClr>
            </a:solidFill>
            <a:prstDash val="solid"/>
          </a:ln>
        </p:spPr>
      </p:sp>
      <p:sp>
        <p:nvSpPr>
          <p:cNvPr id="5" name="Shape 2"/>
          <p:cNvSpPr/>
          <p:nvPr/>
        </p:nvSpPr>
        <p:spPr>
          <a:xfrm>
            <a:off x="15049500" y="7429500"/>
            <a:ext cx="3429000" cy="3429000"/>
          </a:xfrm>
          <a:prstGeom prst="ellipse">
            <a:avLst/>
          </a:prstGeom>
          <a:ln w="9525">
            <a:solidFill>
              <a:srgbClr val="F5F5FF">
                <a:alpha val="10000"/>
              </a:srgbClr>
            </a:solidFill>
            <a:prstDash val="solid"/>
          </a:ln>
        </p:spPr>
      </p:sp>
      <p:sp>
        <p:nvSpPr>
          <p:cNvPr id="6" name="Text 3"/>
          <p:cNvSpPr/>
          <p:nvPr/>
        </p:nvSpPr>
        <p:spPr>
          <a:xfrm>
            <a:off x="1143000" y="914400"/>
            <a:ext cx="11348585" cy="1232892"/>
          </a:xfrm>
          <a:prstGeom prst="rect">
            <a:avLst/>
          </a:prstGeom>
          <a:noFill/>
          <a:ln/>
        </p:spPr>
        <p:txBody>
          <a:bodyPr wrap="square" lIns="25400" tIns="25400" rIns="25400" bIns="25400" rtlCol="0" anchor="t">
            <a:normAutofit/>
          </a:bodyPr>
          <a:lstStyle/>
          <a:p>
            <a:pPr algn="l" indent="0" marL="0">
              <a:lnSpc>
                <a:spcPct val="92235"/>
              </a:lnSpc>
              <a:buNone/>
            </a:pPr>
            <a:r>
              <a:rPr lang="en-US" sz="4200" spc="-84" kern="0" dirty="0">
                <a:solidFill>
                  <a:srgbClr val="E9E9ED"/>
                </a:solidFill>
                <a:latin typeface="Inter" pitchFamily="34" charset="0"/>
                <a:ea typeface="Inter" pitchFamily="34" charset="-122"/>
                <a:cs typeface="Inter" pitchFamily="34" charset="-120"/>
              </a:rPr>
              <a:t>Quantum computing, without the words that get used to sell it</a:t>
            </a:r>
            <a:endParaRPr lang="en-US" sz="4200" dirty="0"/>
          </a:p>
        </p:txBody>
      </p:sp>
      <p:sp>
        <p:nvSpPr>
          <p:cNvPr id="7" name="Text 4"/>
          <p:cNvSpPr/>
          <p:nvPr/>
        </p:nvSpPr>
        <p:spPr>
          <a:xfrm>
            <a:off x="1143000" y="2528292"/>
            <a:ext cx="2933700" cy="481012"/>
          </a:xfrm>
          <a:prstGeom prst="rect">
            <a:avLst/>
          </a:prstGeom>
          <a:noFill/>
          <a:ln/>
        </p:spPr>
        <p:txBody>
          <a:bodyPr wrap="square" lIns="25400" tIns="25400" rIns="25400" bIns="25400" rtlCol="0" anchor="t">
            <a:normAutofit/>
          </a:bodyPr>
          <a:lstStyle/>
          <a:p>
            <a:pPr algn="l" indent="0" marL="0">
              <a:lnSpc>
                <a:spcPct val="129167"/>
              </a:lnSpc>
              <a:buNone/>
            </a:pPr>
            <a:r>
              <a:rPr lang="en-US" sz="2250" dirty="0">
                <a:solidFill>
                  <a:srgbClr val="F5F4FF"/>
                </a:solidFill>
                <a:latin typeface="Inter" pitchFamily="34" charset="0"/>
                <a:ea typeface="Inter" pitchFamily="34" charset="-122"/>
                <a:cs typeface="Inter" pitchFamily="34" charset="-120"/>
              </a:rPr>
              <a:t>Qubit |0⟩ |1⟩</a:t>
            </a:r>
            <a:endParaRPr lang="en-US" sz="2250" dirty="0"/>
          </a:p>
        </p:txBody>
      </p:sp>
      <p:sp>
        <p:nvSpPr>
          <p:cNvPr id="8" name="Text 5"/>
          <p:cNvSpPr/>
          <p:nvPr/>
        </p:nvSpPr>
        <p:spPr>
          <a:xfrm>
            <a:off x="4495800" y="2566392"/>
            <a:ext cx="12440031" cy="811411"/>
          </a:xfrm>
          <a:prstGeom prst="rect">
            <a:avLst/>
          </a:prstGeom>
          <a:noFill/>
          <a:ln/>
        </p:spPr>
        <p:txBody>
          <a:bodyPr wrap="square" lIns="25400" tIns="25400" rIns="25400" bIns="25400" rtlCol="0" anchor="t">
            <a:normAutofit/>
          </a:bodyPr>
          <a:lstStyle/>
          <a:p>
            <a:pPr algn="l" indent="0" marL="0">
              <a:lnSpc>
                <a:spcPct val="116000"/>
              </a:lnSpc>
              <a:buNone/>
            </a:pPr>
            <a:r>
              <a:rPr lang="en-US" sz="2175" dirty="0">
                <a:solidFill>
                  <a:srgbClr val="E7E5FE"/>
                </a:solidFill>
                <a:latin typeface="Inter" pitchFamily="34" charset="0"/>
                <a:ea typeface="Inter" pitchFamily="34" charset="-122"/>
                <a:cs typeface="Inter" pitchFamily="34" charset="-120"/>
              </a:rPr>
              <a:t>A bit is 0 or 1. A qubit holds a weighted mix of both, and measuring it forces exactly one answer out. You never read the mix directly.</a:t>
            </a:r>
            <a:endParaRPr lang="en-US" sz="2175" dirty="0"/>
          </a:p>
        </p:txBody>
      </p:sp>
      <p:sp>
        <p:nvSpPr>
          <p:cNvPr id="9" name="Shape 6"/>
          <p:cNvSpPr/>
          <p:nvPr/>
        </p:nvSpPr>
        <p:spPr>
          <a:xfrm>
            <a:off x="1143000" y="3587353"/>
            <a:ext cx="15430500" cy="9525"/>
          </a:xfrm>
          <a:prstGeom prst="rect">
            <a:avLst/>
          </a:prstGeom>
          <a:solidFill>
            <a:srgbClr val="F6F6FF">
              <a:alpha val="22000"/>
            </a:srgbClr>
          </a:solidFill>
          <a:ln/>
        </p:spPr>
      </p:sp>
      <p:sp>
        <p:nvSpPr>
          <p:cNvPr id="10" name="Text 7"/>
          <p:cNvSpPr/>
          <p:nvPr/>
        </p:nvSpPr>
        <p:spPr>
          <a:xfrm>
            <a:off x="1143000" y="3844528"/>
            <a:ext cx="2933700" cy="481012"/>
          </a:xfrm>
          <a:prstGeom prst="rect">
            <a:avLst/>
          </a:prstGeom>
          <a:noFill/>
          <a:ln/>
        </p:spPr>
        <p:txBody>
          <a:bodyPr wrap="square" lIns="25400" tIns="25400" rIns="25400" bIns="25400" rtlCol="0" anchor="t">
            <a:normAutofit/>
          </a:bodyPr>
          <a:lstStyle/>
          <a:p>
            <a:pPr algn="l" indent="0" marL="0">
              <a:lnSpc>
                <a:spcPct val="129167"/>
              </a:lnSpc>
              <a:buNone/>
            </a:pPr>
            <a:r>
              <a:rPr lang="en-US" sz="2250" dirty="0">
                <a:solidFill>
                  <a:srgbClr val="F5F4FF"/>
                </a:solidFill>
                <a:latin typeface="Inter" pitchFamily="34" charset="0"/>
                <a:ea typeface="Inter" pitchFamily="34" charset="-122"/>
                <a:cs typeface="Inter" pitchFamily="34" charset="-120"/>
              </a:rPr>
              <a:t>Superposition</a:t>
            </a:r>
            <a:endParaRPr lang="en-US" sz="2250" dirty="0"/>
          </a:p>
        </p:txBody>
      </p:sp>
      <p:sp>
        <p:nvSpPr>
          <p:cNvPr id="11" name="Text 8"/>
          <p:cNvSpPr/>
          <p:nvPr/>
        </p:nvSpPr>
        <p:spPr>
          <a:xfrm>
            <a:off x="4495800" y="3882628"/>
            <a:ext cx="12440031" cy="811411"/>
          </a:xfrm>
          <a:prstGeom prst="rect">
            <a:avLst/>
          </a:prstGeom>
          <a:noFill/>
          <a:ln/>
        </p:spPr>
        <p:txBody>
          <a:bodyPr wrap="square" lIns="25400" tIns="25400" rIns="25400" bIns="25400" rtlCol="0" anchor="t">
            <a:normAutofit/>
          </a:bodyPr>
          <a:lstStyle/>
          <a:p>
            <a:pPr algn="l" indent="0" marL="0">
              <a:lnSpc>
                <a:spcPct val="116000"/>
              </a:lnSpc>
              <a:buNone/>
            </a:pPr>
            <a:r>
              <a:rPr lang="en-US" sz="2175" dirty="0">
                <a:solidFill>
                  <a:srgbClr val="E7E5FE"/>
                </a:solidFill>
                <a:latin typeface="Inter" pitchFamily="34" charset="0"/>
                <a:ea typeface="Inter" pitchFamily="34" charset="-122"/>
                <a:cs typeface="Inter" pitchFamily="34" charset="-120"/>
              </a:rPr>
              <a:t>Fifty qubits track over a quadrillion of those weights at once. This is </a:t>
            </a:r>
            <a:pPr algn="l" indent="0" marL="0">
              <a:lnSpc>
                <a:spcPct val="116000"/>
              </a:lnSpc>
              <a:buNone/>
            </a:pPr>
            <a:r>
              <a:rPr lang="en-US" sz="2175" i="1" dirty="0">
                <a:solidFill>
                  <a:srgbClr val="E7E5FE"/>
                </a:solidFill>
                <a:latin typeface="Inter" pitchFamily="34" charset="0"/>
                <a:ea typeface="Inter" pitchFamily="34" charset="-122"/>
                <a:cs typeface="Inter" pitchFamily="34" charset="-120"/>
              </a:rPr>
              <a:t>not </a:t>
            </a:r>
            <a:pPr algn="l" indent="0" marL="0">
              <a:lnSpc>
                <a:spcPct val="116000"/>
              </a:lnSpc>
              <a:buNone/>
            </a:pPr>
            <a:r>
              <a:rPr lang="en-US" sz="2175" dirty="0">
                <a:solidFill>
                  <a:srgbClr val="E7E5FE"/>
                </a:solidFill>
                <a:latin typeface="Inter" pitchFamily="34" charset="0"/>
                <a:ea typeface="Inter" pitchFamily="34" charset="-122"/>
                <a:cs typeface="Inter" pitchFamily="34" charset="-120"/>
              </a:rPr>
              <a:t>trying every answer in parallel, which is the part every article gets wrong.</a:t>
            </a:r>
            <a:endParaRPr lang="en-US" sz="2175" dirty="0"/>
          </a:p>
        </p:txBody>
      </p:sp>
      <p:sp>
        <p:nvSpPr>
          <p:cNvPr id="12" name="Shape 9"/>
          <p:cNvSpPr/>
          <p:nvPr/>
        </p:nvSpPr>
        <p:spPr>
          <a:xfrm>
            <a:off x="1143000" y="4903589"/>
            <a:ext cx="15430500" cy="9525"/>
          </a:xfrm>
          <a:prstGeom prst="rect">
            <a:avLst/>
          </a:prstGeom>
          <a:solidFill>
            <a:srgbClr val="F6F6FF">
              <a:alpha val="22000"/>
            </a:srgbClr>
          </a:solidFill>
          <a:ln/>
        </p:spPr>
      </p:sp>
      <p:sp>
        <p:nvSpPr>
          <p:cNvPr id="13" name="Text 10"/>
          <p:cNvSpPr/>
          <p:nvPr/>
        </p:nvSpPr>
        <p:spPr>
          <a:xfrm>
            <a:off x="1143000" y="5160764"/>
            <a:ext cx="2933700" cy="481012"/>
          </a:xfrm>
          <a:prstGeom prst="rect">
            <a:avLst/>
          </a:prstGeom>
          <a:noFill/>
          <a:ln/>
        </p:spPr>
        <p:txBody>
          <a:bodyPr wrap="square" lIns="25400" tIns="25400" rIns="25400" bIns="25400" rtlCol="0" anchor="t">
            <a:normAutofit/>
          </a:bodyPr>
          <a:lstStyle/>
          <a:p>
            <a:pPr algn="l" indent="0" marL="0">
              <a:lnSpc>
                <a:spcPct val="129167"/>
              </a:lnSpc>
              <a:buNone/>
            </a:pPr>
            <a:r>
              <a:rPr lang="en-US" sz="2250" dirty="0">
                <a:solidFill>
                  <a:srgbClr val="F5F4FF"/>
                </a:solidFill>
                <a:latin typeface="Inter" pitchFamily="34" charset="0"/>
                <a:ea typeface="Inter" pitchFamily="34" charset="-122"/>
                <a:cs typeface="Inter" pitchFamily="34" charset="-120"/>
              </a:rPr>
              <a:t>Entanglement</a:t>
            </a:r>
            <a:endParaRPr lang="en-US" sz="2250" dirty="0"/>
          </a:p>
        </p:txBody>
      </p:sp>
      <p:sp>
        <p:nvSpPr>
          <p:cNvPr id="14" name="Text 11"/>
          <p:cNvSpPr/>
          <p:nvPr/>
        </p:nvSpPr>
        <p:spPr>
          <a:xfrm>
            <a:off x="4495800" y="5198864"/>
            <a:ext cx="12440031" cy="811411"/>
          </a:xfrm>
          <a:prstGeom prst="rect">
            <a:avLst/>
          </a:prstGeom>
          <a:noFill/>
          <a:ln/>
        </p:spPr>
        <p:txBody>
          <a:bodyPr wrap="square" lIns="25400" tIns="25400" rIns="25400" bIns="25400" rtlCol="0" anchor="t">
            <a:normAutofit/>
          </a:bodyPr>
          <a:lstStyle/>
          <a:p>
            <a:pPr algn="l" indent="0" marL="0">
              <a:lnSpc>
                <a:spcPct val="116000"/>
              </a:lnSpc>
              <a:buNone/>
            </a:pPr>
            <a:r>
              <a:rPr lang="en-US" sz="2175" dirty="0">
                <a:solidFill>
                  <a:srgbClr val="E7E5FE"/>
                </a:solidFill>
                <a:latin typeface="Inter" pitchFamily="34" charset="0"/>
                <a:ea typeface="Inter" pitchFamily="34" charset="-122"/>
                <a:cs typeface="Inter" pitchFamily="34" charset="-120"/>
              </a:rPr>
              <a:t>Qubits stop having separate states and only make sense described together. No classical wiring reproduces the correlations that come out.</a:t>
            </a:r>
            <a:endParaRPr lang="en-US" sz="2175" dirty="0"/>
          </a:p>
        </p:txBody>
      </p:sp>
      <p:sp>
        <p:nvSpPr>
          <p:cNvPr id="15" name="Shape 12"/>
          <p:cNvSpPr/>
          <p:nvPr/>
        </p:nvSpPr>
        <p:spPr>
          <a:xfrm>
            <a:off x="1143000" y="6219825"/>
            <a:ext cx="15430500" cy="9525"/>
          </a:xfrm>
          <a:prstGeom prst="rect">
            <a:avLst/>
          </a:prstGeom>
          <a:solidFill>
            <a:srgbClr val="F6F6FF">
              <a:alpha val="22000"/>
            </a:srgbClr>
          </a:solidFill>
          <a:ln/>
        </p:spPr>
      </p:sp>
      <p:sp>
        <p:nvSpPr>
          <p:cNvPr id="16" name="Text 13"/>
          <p:cNvSpPr/>
          <p:nvPr/>
        </p:nvSpPr>
        <p:spPr>
          <a:xfrm>
            <a:off x="1143000" y="6477000"/>
            <a:ext cx="2933700" cy="481012"/>
          </a:xfrm>
          <a:prstGeom prst="rect">
            <a:avLst/>
          </a:prstGeom>
          <a:noFill/>
          <a:ln/>
        </p:spPr>
        <p:txBody>
          <a:bodyPr wrap="square" lIns="25400" tIns="25400" rIns="25400" bIns="25400" rtlCol="0" anchor="t">
            <a:normAutofit/>
          </a:bodyPr>
          <a:lstStyle/>
          <a:p>
            <a:pPr algn="l" indent="0" marL="0">
              <a:lnSpc>
                <a:spcPct val="129167"/>
              </a:lnSpc>
              <a:buNone/>
            </a:pPr>
            <a:r>
              <a:rPr lang="en-US" sz="2250" dirty="0">
                <a:solidFill>
                  <a:srgbClr val="E9E9ED"/>
                </a:solidFill>
                <a:latin typeface="Inter" pitchFamily="34" charset="0"/>
                <a:ea typeface="Inter" pitchFamily="34" charset="-122"/>
                <a:cs typeface="Inter" pitchFamily="34" charset="-120"/>
              </a:rPr>
              <a:t>Interference</a:t>
            </a:r>
            <a:endParaRPr lang="en-US" sz="2250" dirty="0"/>
          </a:p>
        </p:txBody>
      </p:sp>
      <p:sp>
        <p:nvSpPr>
          <p:cNvPr id="17" name="Text 14"/>
          <p:cNvSpPr/>
          <p:nvPr/>
        </p:nvSpPr>
        <p:spPr>
          <a:xfrm>
            <a:off x="4495800" y="6515100"/>
            <a:ext cx="12440031" cy="811411"/>
          </a:xfrm>
          <a:prstGeom prst="rect">
            <a:avLst/>
          </a:prstGeom>
          <a:noFill/>
          <a:ln/>
        </p:spPr>
        <p:txBody>
          <a:bodyPr wrap="square" lIns="25400" tIns="25400" rIns="25400" bIns="25400" rtlCol="0" anchor="t">
            <a:normAutofit/>
          </a:bodyPr>
          <a:lstStyle/>
          <a:p>
            <a:pPr algn="l" indent="0" marL="0">
              <a:lnSpc>
                <a:spcPct val="116000"/>
              </a:lnSpc>
              <a:buNone/>
            </a:pPr>
            <a:r>
              <a:rPr lang="en-US" sz="2175" dirty="0">
                <a:solidFill>
                  <a:srgbClr val="E9E9ED"/>
                </a:solidFill>
                <a:latin typeface="Inter" pitchFamily="34" charset="0"/>
                <a:ea typeface="Inter" pitchFamily="34" charset="-122"/>
                <a:cs typeface="Inter" pitchFamily="34" charset="-120"/>
              </a:rPr>
              <a:t>The actual source of the power. An algorithm arranges the weights so the wrong answers cancel and the right one adds up. Designing that cancellation </a:t>
            </a:r>
            <a:pPr algn="l" indent="0" marL="0">
              <a:lnSpc>
                <a:spcPct val="116000"/>
              </a:lnSpc>
              <a:buNone/>
            </a:pPr>
            <a:r>
              <a:rPr lang="en-US" sz="2175" i="1" dirty="0">
                <a:solidFill>
                  <a:srgbClr val="E9E9ED"/>
                </a:solidFill>
                <a:latin typeface="Inter" pitchFamily="34" charset="0"/>
                <a:ea typeface="Inter" pitchFamily="34" charset="-122"/>
                <a:cs typeface="Inter" pitchFamily="34" charset="-120"/>
              </a:rPr>
              <a:t>is </a:t>
            </a:r>
            <a:pPr algn="l" indent="0" marL="0">
              <a:lnSpc>
                <a:spcPct val="116000"/>
              </a:lnSpc>
              <a:buNone/>
            </a:pPr>
            <a:r>
              <a:rPr lang="en-US" sz="2175" dirty="0">
                <a:solidFill>
                  <a:srgbClr val="E9E9ED"/>
                </a:solidFill>
                <a:latin typeface="Inter" pitchFamily="34" charset="0"/>
                <a:ea typeface="Inter" pitchFamily="34" charset="-122"/>
                <a:cs typeface="Inter" pitchFamily="34" charset="-120"/>
              </a:rPr>
              <a:t>quantum programming.</a:t>
            </a:r>
            <a:endParaRPr lang="en-US" sz="2175" dirty="0"/>
          </a:p>
        </p:txBody>
      </p:sp>
      <p:sp>
        <p:nvSpPr>
          <p:cNvPr id="18" name="Text 15"/>
          <p:cNvSpPr/>
          <p:nvPr/>
        </p:nvSpPr>
        <p:spPr>
          <a:xfrm>
            <a:off x="1143000" y="7631311"/>
            <a:ext cx="13517221" cy="811411"/>
          </a:xfrm>
          <a:prstGeom prst="rect">
            <a:avLst/>
          </a:prstGeom>
          <a:noFill/>
          <a:ln/>
        </p:spPr>
        <p:txBody>
          <a:bodyPr wrap="square" lIns="25400" tIns="25400" rIns="25400" bIns="25400" rtlCol="0" anchor="t">
            <a:normAutofit/>
          </a:bodyPr>
          <a:lstStyle/>
          <a:p>
            <a:pPr algn="l" indent="0" marL="0">
              <a:lnSpc>
                <a:spcPct val="119412"/>
              </a:lnSpc>
              <a:buNone/>
            </a:pPr>
            <a:r>
              <a:rPr lang="en-US" sz="2100" dirty="0">
                <a:solidFill>
                  <a:srgbClr val="D2CEFD"/>
                </a:solidFill>
                <a:latin typeface="Inter" pitchFamily="34" charset="0"/>
                <a:ea typeface="Inter" pitchFamily="34" charset="-122"/>
                <a:cs typeface="Inter" pitchFamily="34" charset="-120"/>
              </a:rPr>
              <a:t>And the honest limit: qubits decohere in fractions of a second, so today's machines run shallow circuits. Error correction is the whole field's open problem, which is exactly why it is interesting to work on now.</a:t>
            </a:r>
            <a:endParaRPr lang="en-US" sz="2100" dirty="0"/>
          </a:p>
        </p:txBody>
      </p:sp>
      <p:sp>
        <p:nvSpPr>
          <p:cNvPr id="19" name="Text 16"/>
          <p:cNvSpPr/>
          <p:nvPr/>
        </p:nvSpPr>
        <p:spPr>
          <a:xfrm>
            <a:off x="1143000" y="9418439"/>
            <a:ext cx="3281422" cy="392311"/>
          </a:xfrm>
          <a:prstGeom prst="rect">
            <a:avLst/>
          </a:prstGeom>
          <a:noFill/>
          <a:ln/>
        </p:spPr>
        <p:txBody>
          <a:bodyPr wrap="square" lIns="25400" tIns="25400" rIns="25400" bIns="25400" rtlCol="0" anchor="t">
            <a:normAutofit/>
          </a:bodyPr>
          <a:lstStyle/>
          <a:p>
            <a:pPr algn="l" indent="0" marL="0">
              <a:lnSpc>
                <a:spcPct val="128276"/>
              </a:lnSpc>
              <a:buNone/>
            </a:pPr>
            <a:r>
              <a:rPr lang="en-US" sz="1800" dirty="0">
                <a:solidFill>
                  <a:srgbClr val="D2CEFD"/>
                </a:solidFill>
                <a:latin typeface="Inter" pitchFamily="34" charset="0"/>
                <a:ea typeface="Inter" pitchFamily="34" charset="-122"/>
                <a:cs typeface="Inter" pitchFamily="34" charset="-120"/>
              </a:rPr>
              <a:t>Quantum Society at Auburn</a:t>
            </a:r>
            <a:endParaRPr lang="en-US" sz="1800" dirty="0"/>
          </a:p>
        </p:txBody>
      </p:sp>
      <p:sp>
        <p:nvSpPr>
          <p:cNvPr id="20" name="Text 17"/>
          <p:cNvSpPr/>
          <p:nvPr/>
        </p:nvSpPr>
        <p:spPr>
          <a:xfrm>
            <a:off x="16852999" y="9418439"/>
            <a:ext cx="368201" cy="392311"/>
          </a:xfrm>
          <a:prstGeom prst="rect">
            <a:avLst/>
          </a:prstGeom>
          <a:noFill/>
          <a:ln/>
        </p:spPr>
        <p:txBody>
          <a:bodyPr wrap="square" lIns="25400" tIns="25400" rIns="25400" bIns="25400" rtlCol="0" anchor="t">
            <a:normAutofit/>
          </a:bodyPr>
          <a:lstStyle/>
          <a:p>
            <a:pPr algn="l" indent="0" marL="0">
              <a:lnSpc>
                <a:spcPct val="128276"/>
              </a:lnSpc>
              <a:buNone/>
            </a:pPr>
            <a:r>
              <a:rPr lang="en-US" sz="1800" dirty="0">
                <a:solidFill>
                  <a:srgbClr val="D2CEFD"/>
                </a:solidFill>
                <a:latin typeface="Inter" pitchFamily="34" charset="0"/>
                <a:ea typeface="Inter" pitchFamily="34" charset="-122"/>
                <a:cs typeface="Inter" pitchFamily="34" charset="-120"/>
              </a:rPr>
              <a:t>04</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pic>
        <p:nvPicPr>
          <p:cNvPr id="3" name="Image 0" descr="preencoded.png">    </p:cNvPr>
          <p:cNvPicPr>
            <a:picLocks noChangeAspect="1"/>
          </p:cNvPicPr>
          <p:nvPr/>
        </p:nvPicPr>
        <p:blipFill>
          <a:blip r:embed="rId1">
            <a:alphaModFix amt="55000"/>
          </a:blip>
          <a:stretch>
            <a:fillRect/>
          </a:stretch>
        </p:blipFill>
        <p:spPr>
          <a:xfrm>
            <a:off x="16554450" y="552450"/>
            <a:ext cx="590550" cy="659755"/>
          </a:xfrm>
          <a:prstGeom prst="rect">
            <a:avLst/>
          </a:prstGeom>
        </p:spPr>
      </p:pic>
      <p:sp>
        <p:nvSpPr>
          <p:cNvPr id="4" name="Text 1"/>
          <p:cNvSpPr/>
          <p:nvPr/>
        </p:nvSpPr>
        <p:spPr>
          <a:xfrm>
            <a:off x="1143000" y="990600"/>
            <a:ext cx="8612765" cy="1462980"/>
          </a:xfrm>
          <a:prstGeom prst="rect">
            <a:avLst/>
          </a:prstGeom>
          <a:noFill/>
          <a:ln/>
        </p:spPr>
        <p:txBody>
          <a:bodyPr wrap="square" lIns="25400" tIns="25400" rIns="25400" bIns="25400" rtlCol="0" anchor="t">
            <a:normAutofit/>
          </a:bodyPr>
          <a:lstStyle/>
          <a:p>
            <a:pPr algn="l" indent="0" marL="0">
              <a:lnSpc>
                <a:spcPct val="91220"/>
              </a:lnSpc>
              <a:buNone/>
            </a:pPr>
            <a:r>
              <a:rPr lang="en-US" sz="5100" spc="-76" kern="0" dirty="0">
                <a:solidFill>
                  <a:srgbClr val="E9E9ED"/>
                </a:solidFill>
                <a:latin typeface="Inter" pitchFamily="34" charset="0"/>
                <a:ea typeface="Inter" pitchFamily="34" charset="-122"/>
                <a:cs typeface="Inter" pitchFamily="34" charset="-120"/>
              </a:rPr>
              <a:t>What comes out of a workshop night</a:t>
            </a:r>
            <a:endParaRPr lang="en-US" sz="5100" dirty="0"/>
          </a:p>
        </p:txBody>
      </p:sp>
      <p:sp>
        <p:nvSpPr>
          <p:cNvPr id="5" name="Text 2"/>
          <p:cNvSpPr/>
          <p:nvPr/>
        </p:nvSpPr>
        <p:spPr>
          <a:xfrm>
            <a:off x="1143000" y="6949380"/>
            <a:ext cx="6056758" cy="731341"/>
          </a:xfrm>
          <a:prstGeom prst="rect">
            <a:avLst/>
          </a:prstGeom>
          <a:noFill/>
          <a:ln/>
        </p:spPr>
        <p:txBody>
          <a:bodyPr wrap="square" lIns="25400" tIns="25400" rIns="25400" bIns="25400" rtlCol="0" anchor="t">
            <a:normAutofit/>
          </a:bodyPr>
          <a:lstStyle/>
          <a:p>
            <a:pPr algn="l" indent="0" marL="0">
              <a:lnSpc>
                <a:spcPct val="117419"/>
              </a:lnSpc>
              <a:buNone/>
            </a:pPr>
            <a:r>
              <a:rPr lang="en-US" sz="1950" dirty="0">
                <a:solidFill>
                  <a:srgbClr val="9397AB"/>
                </a:solidFill>
                <a:latin typeface="Inter" pitchFamily="34" charset="0"/>
                <a:ea typeface="Inter" pitchFamily="34" charset="-122"/>
                <a:cs typeface="Inter" pitchFamily="34" charset="-120"/>
              </a:rPr>
              <a:t>A circuit built in the Weeks 4–7 sessions. Qiskit's own diagram export works fine here.</a:t>
            </a:r>
            <a:endParaRPr lang="en-US" sz="1950" dirty="0"/>
          </a:p>
        </p:txBody>
      </p:sp>
      <p:sp>
        <p:nvSpPr>
          <p:cNvPr id="6" name="Text 3"/>
          <p:cNvSpPr/>
          <p:nvPr/>
        </p:nvSpPr>
        <p:spPr>
          <a:xfrm>
            <a:off x="7632948" y="6949380"/>
            <a:ext cx="4486579" cy="731341"/>
          </a:xfrm>
          <a:prstGeom prst="rect">
            <a:avLst/>
          </a:prstGeom>
          <a:noFill/>
          <a:ln/>
        </p:spPr>
        <p:txBody>
          <a:bodyPr wrap="square" lIns="25400" tIns="25400" rIns="25400" bIns="25400" rtlCol="0" anchor="t">
            <a:normAutofit/>
          </a:bodyPr>
          <a:lstStyle/>
          <a:p>
            <a:pPr algn="l" indent="0" marL="0">
              <a:lnSpc>
                <a:spcPct val="117419"/>
              </a:lnSpc>
              <a:buNone/>
            </a:pPr>
            <a:r>
              <a:rPr lang="en-US" sz="1950" dirty="0">
                <a:solidFill>
                  <a:srgbClr val="9397AB"/>
                </a:solidFill>
                <a:latin typeface="Inter" pitchFamily="34" charset="0"/>
                <a:ea typeface="Inter" pitchFamily="34" charset="-122"/>
                <a:cs typeface="Inter" pitchFamily="34" charset="-120"/>
              </a:rPr>
              <a:t>The measurement counts it returned from real hardware, noise and all.</a:t>
            </a:r>
            <a:endParaRPr lang="en-US" sz="1950" dirty="0"/>
          </a:p>
        </p:txBody>
      </p:sp>
      <p:sp>
        <p:nvSpPr>
          <p:cNvPr id="7" name="Text 4"/>
          <p:cNvSpPr/>
          <p:nvPr/>
        </p:nvSpPr>
        <p:spPr>
          <a:xfrm>
            <a:off x="12598450" y="6949380"/>
            <a:ext cx="4486732" cy="1077962"/>
          </a:xfrm>
          <a:prstGeom prst="rect">
            <a:avLst/>
          </a:prstGeom>
          <a:noFill/>
          <a:ln/>
        </p:spPr>
        <p:txBody>
          <a:bodyPr wrap="square" lIns="25400" tIns="25400" rIns="25400" bIns="25400" rtlCol="0" anchor="t">
            <a:normAutofit/>
          </a:bodyPr>
          <a:lstStyle/>
          <a:p>
            <a:pPr algn="l" indent="0" marL="0">
              <a:lnSpc>
                <a:spcPct val="117419"/>
              </a:lnSpc>
              <a:buNone/>
            </a:pPr>
            <a:r>
              <a:rPr lang="en-US" sz="1950" dirty="0">
                <a:solidFill>
                  <a:srgbClr val="9397AB"/>
                </a:solidFill>
                <a:latin typeface="Inter" pitchFamily="34" charset="0"/>
                <a:ea typeface="Inter" pitchFamily="34" charset="-122"/>
                <a:cs typeface="Inter" pitchFamily="34" charset="-120"/>
              </a:rPr>
              <a:t>The room mid-session. Worth replacing with a real photo before you present.</a:t>
            </a:r>
            <a:endParaRPr lang="en-US" sz="1950" dirty="0"/>
          </a:p>
        </p:txBody>
      </p:sp>
      <p:sp>
        <p:nvSpPr>
          <p:cNvPr id="8" name="Text 5"/>
          <p:cNvSpPr/>
          <p:nvPr/>
        </p:nvSpPr>
        <p:spPr>
          <a:xfrm>
            <a:off x="16865054" y="9418439"/>
            <a:ext cx="356146" cy="392311"/>
          </a:xfrm>
          <a:prstGeom prst="rect">
            <a:avLst/>
          </a:prstGeom>
          <a:noFill/>
          <a:ln/>
        </p:spPr>
        <p:txBody>
          <a:bodyPr wrap="square" lIns="25400" tIns="25400" rIns="25400" bIns="25400" rtlCol="0" anchor="t">
            <a:normAutofit/>
          </a:bodyPr>
          <a:lstStyle/>
          <a:p>
            <a:pPr algn="l" indent="0" marL="0">
              <a:lnSpc>
                <a:spcPct val="128276"/>
              </a:lnSpc>
              <a:buNone/>
            </a:pPr>
            <a:r>
              <a:rPr lang="en-US" sz="1800" dirty="0">
                <a:solidFill>
                  <a:srgbClr val="75798C"/>
                </a:solidFill>
                <a:latin typeface="Inter" pitchFamily="34" charset="0"/>
                <a:ea typeface="Inter" pitchFamily="34" charset="-122"/>
                <a:cs typeface="Inter" pitchFamily="34" charset="-120"/>
              </a:rPr>
              <a:t>05</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2026-09-02T06:29:43Z</dcterms:created>
  <dcterms:modified xsi:type="dcterms:W3CDTF">2026-09-02T06:29:43Z</dcterms:modified>
</cp:coreProperties>
</file>